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0"/>
          </a:xfrm>
          <a:prstGeom prst="rect">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22960" y="2971800"/>
            <a:ext cx="2011680" cy="64008"/>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691640"/>
            <a:ext cx="10607040" cy="3108960"/>
          </a:xfrm>
          <a:prstGeom prst="rect">
            <a:avLst/>
          </a:prstGeom>
          <a:noFill/>
        </p:spPr>
        <p:txBody>
          <a:bodyPr wrap="square">
            <a:spAutoFit/>
          </a:bodyPr>
          <a:lstStyle/>
          <a:p>
            <a:pPr algn="l">
              <a:spcAft>
                <a:spcPts val="1000"/>
              </a:spcAft>
            </a:pPr>
            <a:r>
              <a:rPr sz="1400" b="1" i="0">
                <a:solidFill>
                  <a:srgbClr val="B08D57"/>
                </a:solidFill>
                <a:latin typeface="Calibri"/>
              </a:rPr>
              <a:t>FITWELL BUCKLE CO.</a:t>
            </a:r>
          </a:p>
          <a:p>
            <a:pPr algn="l">
              <a:spcAft>
                <a:spcPts val="400"/>
              </a:spcAft>
            </a:pPr>
            <a:r>
              <a:rPr sz="4200" b="1" i="0">
                <a:solidFill>
                  <a:srgbClr val="FFFFFF"/>
                </a:solidFill>
                <a:latin typeface="Calibri"/>
              </a:rPr>
              <a:t>Our Growth Plan</a:t>
            </a:r>
          </a:p>
          <a:p>
            <a:pPr algn="l">
              <a:spcAft>
                <a:spcPts val="1800"/>
              </a:spcAft>
            </a:pPr>
            <a:r>
              <a:rPr sz="1900" b="0" i="0">
                <a:solidFill>
                  <a:srgbClr val="C9CDD6"/>
                </a:solidFill>
                <a:latin typeface="Calibri"/>
              </a:rPr>
              <a:t>How we go from ~7 orders a day to 30–40 — and how it all fits together</a:t>
            </a:r>
          </a:p>
          <a:p>
            <a:pPr algn="l">
              <a:spcAft>
                <a:spcPts val="700"/>
              </a:spcAft>
            </a:pPr>
            <a:r>
              <a:rPr sz="1400" b="0" i="0">
                <a:solidFill>
                  <a:srgbClr val="9AA0AD"/>
                </a:solidFill>
                <a:latin typeface="Calibri"/>
              </a:rPr>
              <a:t>Working draft · June 2026 · Tom + Oliver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80160"/>
            <a:ext cx="12191695" cy="54864"/>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6304"/>
            <a:ext cx="11064240" cy="1051560"/>
          </a:xfrm>
          <a:prstGeom prst="rect">
            <a:avLst/>
          </a:prstGeom>
          <a:noFill/>
        </p:spPr>
        <p:txBody>
          <a:bodyPr wrap="square">
            <a:spAutoFit/>
          </a:bodyPr>
          <a:lstStyle/>
          <a:p>
            <a:pPr algn="l">
              <a:spcAft>
                <a:spcPts val="200"/>
              </a:spcAft>
            </a:pPr>
            <a:r>
              <a:rPr sz="1200" b="1" i="0">
                <a:solidFill>
                  <a:srgbClr val="B08D57"/>
                </a:solidFill>
                <a:latin typeface="Calibri"/>
              </a:rPr>
              <a:t>THE BIG PICTURE</a:t>
            </a:r>
          </a:p>
          <a:p>
            <a:pPr algn="l">
              <a:spcAft>
                <a:spcPts val="700"/>
              </a:spcAft>
            </a:pPr>
            <a:r>
              <a:rPr sz="2600" b="1" i="0">
                <a:solidFill>
                  <a:srgbClr val="FFFFFF"/>
                </a:solidFill>
                <a:latin typeface="Calibri"/>
              </a:rPr>
              <a:t>Where we are, and where we're going</a:t>
            </a:r>
          </a:p>
        </p:txBody>
      </p:sp>
      <p:sp>
        <p:nvSpPr>
          <p:cNvPr id="6" name="TextBox 5"/>
          <p:cNvSpPr txBox="1"/>
          <p:nvPr/>
        </p:nvSpPr>
        <p:spPr>
          <a:xfrm>
            <a:off x="640080" y="1691640"/>
            <a:ext cx="10881360" cy="4572000"/>
          </a:xfrm>
          <a:prstGeom prst="rect">
            <a:avLst/>
          </a:prstGeom>
          <a:noFill/>
        </p:spPr>
        <p:txBody>
          <a:bodyPr wrap="square">
            <a:spAutoFit/>
          </a:bodyPr>
          <a:lstStyle/>
          <a:p>
            <a:pPr algn="l">
              <a:spcAft>
                <a:spcPts val="1200"/>
              </a:spcAft>
            </a:pPr>
            <a:r>
              <a:rPr sz="1700" b="1" i="0">
                <a:solidFill>
                  <a:srgbClr val="B08D57"/>
                </a:solidFill>
                <a:latin typeface="Calibri"/>
              </a:rPr>
              <a:t>Today</a:t>
            </a:r>
          </a:p>
          <a:p>
            <a:pPr algn="l">
              <a:spcAft>
                <a:spcPts val="1200"/>
              </a:spcAft>
            </a:pPr>
            <a:r>
              <a:rPr sz="1700" b="0" i="0">
                <a:solidFill>
                  <a:srgbClr val="333740"/>
                </a:solidFill>
                <a:latin typeface="Calibri"/>
              </a:rPr>
              <a:t>●  About 7 orders a day. Most of our marketing isn't really running, and we have almost no content to advertise with.</a:t>
            </a:r>
          </a:p>
          <a:p>
            <a:pPr algn="l">
              <a:spcAft>
                <a:spcPts val="1200"/>
              </a:spcAft>
            </a:pPr>
            <a:r>
              <a:rPr sz="1700" b="1" i="0">
                <a:solidFill>
                  <a:srgbClr val="B08D57"/>
                </a:solidFill>
                <a:latin typeface="Calibri"/>
              </a:rPr>
              <a:t>The goal</a:t>
            </a:r>
          </a:p>
          <a:p>
            <a:pPr algn="l">
              <a:spcAft>
                <a:spcPts val="1200"/>
              </a:spcAft>
            </a:pPr>
            <a:r>
              <a:rPr sz="1700" b="0" i="0">
                <a:solidFill>
                  <a:srgbClr val="333740"/>
                </a:solidFill>
                <a:latin typeface="Calibri"/>
              </a:rPr>
              <a:t>●  30–40 orders a day within about three months of going live — and growing profitably. We have cash from the raise to fund the push.</a:t>
            </a:r>
          </a:p>
          <a:p>
            <a:pPr algn="l">
              <a:spcAft>
                <a:spcPts val="1200"/>
              </a:spcAft>
            </a:pPr>
            <a:r>
              <a:rPr sz="1700" b="1" i="0">
                <a:solidFill>
                  <a:srgbClr val="B08D57"/>
                </a:solidFill>
                <a:latin typeface="Calibri"/>
              </a:rPr>
              <a:t>Why now</a:t>
            </a:r>
          </a:p>
          <a:p>
            <a:pPr algn="l">
              <a:spcAft>
                <a:spcPts val="1200"/>
              </a:spcAft>
            </a:pPr>
            <a:r>
              <a:rPr sz="1700" b="0" i="0">
                <a:solidFill>
                  <a:srgbClr val="333740"/>
                </a:solidFill>
                <a:latin typeface="Calibri"/>
              </a:rPr>
              <a:t>●  Our margins are excellent — we keep roughly 70 cents of every dollar after product, shipping, and fees — so we can afford to spend to grow. What's been missing is content and consistent execution. That's what this plan builds.</a:t>
            </a:r>
          </a:p>
          <a:p>
            <a:pPr algn="l">
              <a:spcAft>
                <a:spcPts val="1200"/>
              </a:spcAft>
            </a:pPr>
            <a:r>
              <a:rPr sz="1700" b="1" i="0">
                <a:solidFill>
                  <a:srgbClr val="B08D57"/>
                </a:solidFill>
                <a:latin typeface="Calibri"/>
              </a:rPr>
              <a:t>The idea behind all of it</a:t>
            </a:r>
          </a:p>
          <a:p>
            <a:pPr algn="l">
              <a:spcAft>
                <a:spcPts val="1200"/>
              </a:spcAft>
            </a:pPr>
            <a:r>
              <a:rPr sz="1700" b="0" i="0">
                <a:solidFill>
                  <a:srgbClr val="333740"/>
                </a:solidFill>
                <a:latin typeface="Calibri"/>
              </a:rPr>
              <a:t>●  People come for one buckle to fix one watch. We turn them into customers who outfit their whole collection. The first sale is the door in; the collection is where the real value is.</a:t>
            </a:r>
          </a:p>
        </p:txBody>
      </p:sp>
      <p:sp>
        <p:nvSpPr>
          <p:cNvPr id="7" name="TextBox 6"/>
          <p:cNvSpPr txBox="1"/>
          <p:nvPr/>
        </p:nvSpPr>
        <p:spPr>
          <a:xfrm>
            <a:off x="548640" y="6473952"/>
            <a:ext cx="11064240" cy="301752"/>
          </a:xfrm>
          <a:prstGeom prst="rect">
            <a:avLst/>
          </a:prstGeom>
          <a:noFill/>
        </p:spPr>
        <p:txBody>
          <a:bodyPr wrap="square">
            <a:spAutoFit/>
          </a:bodyPr>
          <a:lstStyle/>
          <a:p>
            <a:pPr algn="l">
              <a:spcAft>
                <a:spcPts val="700"/>
              </a:spcAft>
            </a:pPr>
            <a:r>
              <a:rPr sz="900" b="0" i="0">
                <a:solidFill>
                  <a:srgbClr val="6B707B"/>
                </a:solidFill>
                <a:latin typeface="Calibri"/>
              </a:rPr>
              <a:t>Fitwell · growth plan · 1/12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80160"/>
            <a:ext cx="12191695" cy="54864"/>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6304"/>
            <a:ext cx="11064240" cy="1051560"/>
          </a:xfrm>
          <a:prstGeom prst="rect">
            <a:avLst/>
          </a:prstGeom>
          <a:noFill/>
        </p:spPr>
        <p:txBody>
          <a:bodyPr wrap="square">
            <a:spAutoFit/>
          </a:bodyPr>
          <a:lstStyle/>
          <a:p>
            <a:pPr algn="l">
              <a:spcAft>
                <a:spcPts val="200"/>
              </a:spcAft>
            </a:pPr>
            <a:r>
              <a:rPr sz="1200" b="1" i="0">
                <a:solidFill>
                  <a:srgbClr val="B08D57"/>
                </a:solidFill>
                <a:latin typeface="Calibri"/>
              </a:rPr>
              <a:t>OUR CUSTOMERS</a:t>
            </a:r>
          </a:p>
          <a:p>
            <a:pPr algn="l">
              <a:spcAft>
                <a:spcPts val="700"/>
              </a:spcAft>
            </a:pPr>
            <a:r>
              <a:rPr sz="2600" b="1" i="0">
                <a:solidFill>
                  <a:srgbClr val="FFFFFF"/>
                </a:solidFill>
                <a:latin typeface="Calibri"/>
              </a:rPr>
              <a:t>A few collectors drive most of the value — so we grow the base, then move them up</a:t>
            </a:r>
          </a:p>
        </p:txBody>
      </p:sp>
      <p:graphicFrame>
        <p:nvGraphicFramePr>
          <p:cNvPr id="6" name="Table 5"/>
          <p:cNvGraphicFramePr>
            <a:graphicFrameLocks noGrp="1"/>
          </p:cNvGraphicFramePr>
          <p:nvPr/>
        </p:nvGraphicFramePr>
        <p:xfrm>
          <a:off x="640080" y="1600200"/>
          <a:ext cx="10881360" cy="112776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0">
                <a:tc>
                  <a:txBody>
                    <a:bodyPr/>
                    <a:lstStyle/>
                    <a:p>
                      <a:r>
                        <a:rPr sz="1250" b="1">
                          <a:solidFill>
                            <a:srgbClr val="FFFFFF"/>
                          </a:solidFill>
                          <a:latin typeface="Calibri"/>
                        </a:rPr>
                        <a:t>Type of customer</a:t>
                      </a:r>
                    </a:p>
                  </a:txBody>
                  <a:tcPr>
                    <a:solidFill>
                      <a:srgbClr val="1A1F2B"/>
                    </a:solidFill>
                  </a:tcPr>
                </a:tc>
                <a:tc>
                  <a:txBody>
                    <a:bodyPr/>
                    <a:lstStyle/>
                    <a:p>
                      <a:pPr algn="ctr"/>
                      <a:r>
                        <a:rPr sz="1250" b="1">
                          <a:solidFill>
                            <a:srgbClr val="FFFFFF"/>
                          </a:solidFill>
                          <a:latin typeface="Calibri"/>
                        </a:rPr>
                        <a:t>Share of buyers</a:t>
                      </a:r>
                    </a:p>
                  </a:txBody>
                  <a:tcPr>
                    <a:solidFill>
                      <a:srgbClr val="1A1F2B"/>
                    </a:solidFill>
                  </a:tcPr>
                </a:tc>
                <a:tc>
                  <a:txBody>
                    <a:bodyPr/>
                    <a:lstStyle/>
                    <a:p>
                      <a:pPr algn="ctr"/>
                      <a:r>
                        <a:rPr sz="1250" b="1">
                          <a:solidFill>
                            <a:srgbClr val="FFFFFF"/>
                          </a:solidFill>
                          <a:latin typeface="Calibri"/>
                        </a:rPr>
                        <a:t>What they're worth</a:t>
                      </a:r>
                    </a:p>
                  </a:txBody>
                  <a:tcPr>
                    <a:solidFill>
                      <a:srgbClr val="1A1F2B"/>
                    </a:solidFill>
                  </a:tcPr>
                </a:tc>
                <a:tc>
                  <a:txBody>
                    <a:bodyPr/>
                    <a:lstStyle/>
                    <a:p>
                      <a:pPr algn="ctr"/>
                      <a:r>
                        <a:rPr sz="1250" b="1">
                          <a:solidFill>
                            <a:srgbClr val="FFFFFF"/>
                          </a:solidFill>
                          <a:latin typeface="Calibri"/>
                        </a:rPr>
                        <a:t>Share of revenue</a:t>
                      </a:r>
                    </a:p>
                  </a:txBody>
                  <a:tcPr>
                    <a:solidFill>
                      <a:srgbClr val="1A1F2B"/>
                    </a:solidFill>
                  </a:tcPr>
                </a:tc>
                <a:extLst>
                  <a:ext uri="{0D108BD9-81ED-4DB2-BD59-A6C34878D82A}">
                    <a16:rowId xmlns:a16="http://schemas.microsoft.com/office/drawing/2014/main" val="10000"/>
                  </a:ext>
                </a:extLst>
              </a:tr>
              <a:tr h="0">
                <a:tc>
                  <a:txBody>
                    <a:bodyPr/>
                    <a:lstStyle/>
                    <a:p>
                      <a:r>
                        <a:rPr sz="1250" b="1">
                          <a:solidFill>
                            <a:srgbClr val="333740"/>
                          </a:solidFill>
                          <a:latin typeface="Calibri"/>
                        </a:rPr>
                        <a:t>Collectors (buy again &amp; again)</a:t>
                      </a:r>
                    </a:p>
                  </a:txBody>
                  <a:tcPr>
                    <a:solidFill>
                      <a:srgbClr val="F5F3EF"/>
                    </a:solidFill>
                  </a:tcPr>
                </a:tc>
                <a:tc>
                  <a:txBody>
                    <a:bodyPr/>
                    <a:lstStyle/>
                    <a:p>
                      <a:pPr algn="ctr"/>
                      <a:r>
                        <a:rPr sz="1250">
                          <a:solidFill>
                            <a:srgbClr val="333740"/>
                          </a:solidFill>
                          <a:latin typeface="Calibri"/>
                        </a:rPr>
                        <a:t>~6%</a:t>
                      </a:r>
                    </a:p>
                  </a:txBody>
                  <a:tcPr>
                    <a:solidFill>
                      <a:srgbClr val="F5F3EF"/>
                    </a:solidFill>
                  </a:tcPr>
                </a:tc>
                <a:tc>
                  <a:txBody>
                    <a:bodyPr/>
                    <a:lstStyle/>
                    <a:p>
                      <a:pPr algn="ctr"/>
                      <a:r>
                        <a:rPr sz="1250">
                          <a:solidFill>
                            <a:srgbClr val="333740"/>
                          </a:solidFill>
                          <a:latin typeface="Calibri"/>
                        </a:rPr>
                        <a:t>~$240 each</a:t>
                      </a:r>
                    </a:p>
                  </a:txBody>
                  <a:tcPr>
                    <a:solidFill>
                      <a:srgbClr val="F5F3EF"/>
                    </a:solidFill>
                  </a:tcPr>
                </a:tc>
                <a:tc>
                  <a:txBody>
                    <a:bodyPr/>
                    <a:lstStyle/>
                    <a:p>
                      <a:pPr algn="ctr"/>
                      <a:r>
                        <a:rPr sz="1250">
                          <a:solidFill>
                            <a:srgbClr val="333740"/>
                          </a:solidFill>
                          <a:latin typeface="Calibri"/>
                        </a:rPr>
                        <a:t>~19%</a:t>
                      </a:r>
                    </a:p>
                  </a:txBody>
                  <a:tcPr>
                    <a:solidFill>
                      <a:srgbClr val="F5F3EF"/>
                    </a:solidFill>
                  </a:tcPr>
                </a:tc>
                <a:extLst>
                  <a:ext uri="{0D108BD9-81ED-4DB2-BD59-A6C34878D82A}">
                    <a16:rowId xmlns:a16="http://schemas.microsoft.com/office/drawing/2014/main" val="10001"/>
                  </a:ext>
                </a:extLst>
              </a:tr>
              <a:tr h="0">
                <a:tc>
                  <a:txBody>
                    <a:bodyPr/>
                    <a:lstStyle/>
                    <a:p>
                      <a:r>
                        <a:rPr sz="1250" b="1">
                          <a:solidFill>
                            <a:srgbClr val="333740"/>
                          </a:solidFill>
                          <a:latin typeface="Calibri"/>
                        </a:rPr>
                        <a:t>Curators (own a few)</a:t>
                      </a:r>
                    </a:p>
                  </a:txBody>
                  <a:tcPr>
                    <a:solidFill>
                      <a:srgbClr val="FFFFFF"/>
                    </a:solidFill>
                  </a:tcPr>
                </a:tc>
                <a:tc>
                  <a:txBody>
                    <a:bodyPr/>
                    <a:lstStyle/>
                    <a:p>
                      <a:pPr algn="ctr"/>
                      <a:r>
                        <a:rPr sz="1250">
                          <a:solidFill>
                            <a:srgbClr val="333740"/>
                          </a:solidFill>
                          <a:latin typeface="Calibri"/>
                        </a:rPr>
                        <a:t>~17%</a:t>
                      </a:r>
                    </a:p>
                  </a:txBody>
                  <a:tcPr>
                    <a:solidFill>
                      <a:srgbClr val="FFFFFF"/>
                    </a:solidFill>
                  </a:tcPr>
                </a:tc>
                <a:tc>
                  <a:txBody>
                    <a:bodyPr/>
                    <a:lstStyle/>
                    <a:p>
                      <a:pPr algn="ctr"/>
                      <a:r>
                        <a:rPr sz="1250">
                          <a:solidFill>
                            <a:srgbClr val="333740"/>
                          </a:solidFill>
                          <a:latin typeface="Calibri"/>
                        </a:rPr>
                        <a:t>~$95 each</a:t>
                      </a:r>
                    </a:p>
                  </a:txBody>
                  <a:tcPr>
                    <a:solidFill>
                      <a:srgbClr val="FFFFFF"/>
                    </a:solidFill>
                  </a:tcPr>
                </a:tc>
                <a:tc>
                  <a:txBody>
                    <a:bodyPr/>
                    <a:lstStyle/>
                    <a:p>
                      <a:pPr algn="ctr"/>
                      <a:r>
                        <a:rPr sz="1250">
                          <a:solidFill>
                            <a:srgbClr val="333740"/>
                          </a:solidFill>
                          <a:latin typeface="Calibri"/>
                        </a:rPr>
                        <a:t>~21%</a:t>
                      </a:r>
                    </a:p>
                  </a:txBody>
                  <a:tcPr>
                    <a:solidFill>
                      <a:srgbClr val="FFFFFF"/>
                    </a:solidFill>
                  </a:tcPr>
                </a:tc>
                <a:extLst>
                  <a:ext uri="{0D108BD9-81ED-4DB2-BD59-A6C34878D82A}">
                    <a16:rowId xmlns:a16="http://schemas.microsoft.com/office/drawing/2014/main" val="10002"/>
                  </a:ext>
                </a:extLst>
              </a:tr>
              <a:tr h="0">
                <a:tc>
                  <a:txBody>
                    <a:bodyPr/>
                    <a:lstStyle/>
                    <a:p>
                      <a:r>
                        <a:rPr sz="1250" b="1">
                          <a:solidFill>
                            <a:srgbClr val="333740"/>
                          </a:solidFill>
                          <a:latin typeface="Calibri"/>
                        </a:rPr>
                        <a:t>One-time buyers</a:t>
                      </a:r>
                    </a:p>
                  </a:txBody>
                  <a:tcPr>
                    <a:solidFill>
                      <a:srgbClr val="F5F3EF"/>
                    </a:solidFill>
                  </a:tcPr>
                </a:tc>
                <a:tc>
                  <a:txBody>
                    <a:bodyPr/>
                    <a:lstStyle/>
                    <a:p>
                      <a:pPr algn="ctr"/>
                      <a:r>
                        <a:rPr sz="1250">
                          <a:solidFill>
                            <a:srgbClr val="333740"/>
                          </a:solidFill>
                          <a:latin typeface="Calibri"/>
                        </a:rPr>
                        <a:t>~66%</a:t>
                      </a:r>
                    </a:p>
                  </a:txBody>
                  <a:tcPr>
                    <a:solidFill>
                      <a:srgbClr val="F5F3EF"/>
                    </a:solidFill>
                  </a:tcPr>
                </a:tc>
                <a:tc>
                  <a:txBody>
                    <a:bodyPr/>
                    <a:lstStyle/>
                    <a:p>
                      <a:pPr algn="ctr"/>
                      <a:r>
                        <a:rPr sz="1250">
                          <a:solidFill>
                            <a:srgbClr val="333740"/>
                          </a:solidFill>
                          <a:latin typeface="Calibri"/>
                        </a:rPr>
                        <a:t>~$47 each</a:t>
                      </a:r>
                    </a:p>
                  </a:txBody>
                  <a:tcPr>
                    <a:solidFill>
                      <a:srgbClr val="F5F3EF"/>
                    </a:solidFill>
                  </a:tcPr>
                </a:tc>
                <a:tc>
                  <a:txBody>
                    <a:bodyPr/>
                    <a:lstStyle/>
                    <a:p>
                      <a:pPr algn="ctr"/>
                      <a:r>
                        <a:rPr sz="1250">
                          <a:solidFill>
                            <a:srgbClr val="333740"/>
                          </a:solidFill>
                          <a:latin typeface="Calibri"/>
                        </a:rPr>
                        <a:t>~42%</a:t>
                      </a:r>
                    </a:p>
                  </a:txBody>
                  <a:tcPr>
                    <a:solidFill>
                      <a:srgbClr val="F5F3E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40080" y="3611880"/>
            <a:ext cx="10881360" cy="2560320"/>
          </a:xfrm>
          <a:prstGeom prst="rect">
            <a:avLst/>
          </a:prstGeom>
          <a:noFill/>
        </p:spPr>
        <p:txBody>
          <a:bodyPr wrap="square">
            <a:spAutoFit/>
          </a:bodyPr>
          <a:lstStyle/>
          <a:p>
            <a:pPr algn="l">
              <a:spcAft>
                <a:spcPts val="1100"/>
              </a:spcAft>
            </a:pPr>
            <a:r>
              <a:rPr sz="1600" b="0" i="0">
                <a:solidFill>
                  <a:srgbClr val="333740"/>
                </a:solidFill>
                <a:latin typeface="Calibri"/>
              </a:rPr>
              <a:t>●  The plan: bring in lots of first-time buyers through ads and creators, then use email and text to turn them into repeat buyers and collectors.</a:t>
            </a:r>
          </a:p>
          <a:p>
            <a:pPr algn="l">
              <a:spcAft>
                <a:spcPts val="1100"/>
              </a:spcAft>
            </a:pPr>
            <a:r>
              <a:rPr sz="1600" b="0" i="0">
                <a:solidFill>
                  <a:srgbClr val="333740"/>
                </a:solidFill>
                <a:latin typeface="Calibri"/>
              </a:rPr>
              <a:t>●  Collectors and curators are under a quarter of our buyers but about 40% of our revenue — moving people up this ladder is where the money is.</a:t>
            </a:r>
          </a:p>
        </p:txBody>
      </p:sp>
      <p:sp>
        <p:nvSpPr>
          <p:cNvPr id="8" name="TextBox 7"/>
          <p:cNvSpPr txBox="1"/>
          <p:nvPr/>
        </p:nvSpPr>
        <p:spPr>
          <a:xfrm>
            <a:off x="548640" y="6473952"/>
            <a:ext cx="11064240" cy="301752"/>
          </a:xfrm>
          <a:prstGeom prst="rect">
            <a:avLst/>
          </a:prstGeom>
          <a:noFill/>
        </p:spPr>
        <p:txBody>
          <a:bodyPr wrap="square">
            <a:spAutoFit/>
          </a:bodyPr>
          <a:lstStyle/>
          <a:p>
            <a:pPr algn="l">
              <a:spcAft>
                <a:spcPts val="700"/>
              </a:spcAft>
            </a:pPr>
            <a:r>
              <a:rPr sz="900" b="0" i="0">
                <a:solidFill>
                  <a:srgbClr val="6B707B"/>
                </a:solidFill>
                <a:latin typeface="Calibri"/>
              </a:rPr>
              <a:t>Fitwell · growth plan · 2/12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80160"/>
            <a:ext cx="12191695" cy="54864"/>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6304"/>
            <a:ext cx="11064240" cy="1051560"/>
          </a:xfrm>
          <a:prstGeom prst="rect">
            <a:avLst/>
          </a:prstGeom>
          <a:noFill/>
        </p:spPr>
        <p:txBody>
          <a:bodyPr wrap="square">
            <a:spAutoFit/>
          </a:bodyPr>
          <a:lstStyle/>
          <a:p>
            <a:pPr algn="l">
              <a:spcAft>
                <a:spcPts val="200"/>
              </a:spcAft>
            </a:pPr>
            <a:r>
              <a:rPr sz="1200" b="1" i="0">
                <a:solidFill>
                  <a:srgbClr val="B08D57"/>
                </a:solidFill>
                <a:latin typeface="Calibri"/>
              </a:rPr>
              <a:t>THE PLAN IN ONE PICTURE</a:t>
            </a:r>
          </a:p>
          <a:p>
            <a:pPr algn="l">
              <a:spcAft>
                <a:spcPts val="700"/>
              </a:spcAft>
            </a:pPr>
            <a:r>
              <a:rPr sz="2600" b="1" i="0">
                <a:solidFill>
                  <a:srgbClr val="FFFFFF"/>
                </a:solidFill>
                <a:latin typeface="Calibri"/>
              </a:rPr>
              <a:t>Four engines, running at once, feeding each other</a:t>
            </a:r>
          </a:p>
        </p:txBody>
      </p:sp>
      <p:sp>
        <p:nvSpPr>
          <p:cNvPr id="6" name="TextBox 5"/>
          <p:cNvSpPr txBox="1"/>
          <p:nvPr/>
        </p:nvSpPr>
        <p:spPr>
          <a:xfrm>
            <a:off x="640080" y="1691640"/>
            <a:ext cx="10881360" cy="4067780"/>
          </a:xfrm>
          <a:prstGeom prst="rect">
            <a:avLst/>
          </a:prstGeom>
          <a:noFill/>
        </p:spPr>
        <p:txBody>
          <a:bodyPr wrap="square">
            <a:spAutoFit/>
          </a:bodyPr>
          <a:lstStyle/>
          <a:p>
            <a:pPr algn="l">
              <a:spcAft>
                <a:spcPts val="1200"/>
              </a:spcAft>
            </a:pPr>
            <a:r>
              <a:rPr sz="1700" b="1" i="0" dirty="0">
                <a:solidFill>
                  <a:srgbClr val="B08D57"/>
                </a:solidFill>
                <a:latin typeface="Calibri"/>
              </a:rPr>
              <a:t>Creators</a:t>
            </a:r>
          </a:p>
          <a:p>
            <a:pPr algn="l">
              <a:spcAft>
                <a:spcPts val="1200"/>
              </a:spcAft>
            </a:pPr>
            <a:r>
              <a:rPr sz="1700" b="0" i="0" dirty="0">
                <a:solidFill>
                  <a:srgbClr val="333740"/>
                </a:solidFill>
                <a:latin typeface="Calibri"/>
              </a:rPr>
              <a:t>●  Get real people in the watch world wearing Fitwell and talking about it.</a:t>
            </a:r>
          </a:p>
          <a:p>
            <a:pPr algn="l">
              <a:spcAft>
                <a:spcPts val="1200"/>
              </a:spcAft>
            </a:pPr>
            <a:r>
              <a:rPr sz="1700" b="1" i="0" dirty="0">
                <a:solidFill>
                  <a:srgbClr val="B08D57"/>
                </a:solidFill>
                <a:latin typeface="Calibri"/>
              </a:rPr>
              <a:t>Paid ads</a:t>
            </a:r>
          </a:p>
          <a:p>
            <a:pPr algn="l">
              <a:spcAft>
                <a:spcPts val="1200"/>
              </a:spcAft>
            </a:pPr>
            <a:r>
              <a:rPr sz="1700" b="0" i="0" dirty="0">
                <a:solidFill>
                  <a:srgbClr val="333740"/>
                </a:solidFill>
                <a:latin typeface="Calibri"/>
              </a:rPr>
              <a:t>●  Meta and TikTok to get discovered; Google and YouTube to close the sale.</a:t>
            </a:r>
          </a:p>
          <a:p>
            <a:pPr algn="l">
              <a:spcAft>
                <a:spcPts val="1200"/>
              </a:spcAft>
            </a:pPr>
            <a:r>
              <a:rPr sz="1700" b="1" i="0" dirty="0">
                <a:solidFill>
                  <a:srgbClr val="B08D57"/>
                </a:solidFill>
                <a:latin typeface="Calibri"/>
              </a:rPr>
              <a:t>Email &amp; text</a:t>
            </a:r>
          </a:p>
          <a:p>
            <a:pPr algn="l">
              <a:spcAft>
                <a:spcPts val="1200"/>
              </a:spcAft>
            </a:pPr>
            <a:r>
              <a:rPr sz="1700" b="0" i="0" dirty="0">
                <a:solidFill>
                  <a:srgbClr val="333740"/>
                </a:solidFill>
                <a:latin typeface="Calibri"/>
              </a:rPr>
              <a:t>●  Sell to our list with regular campaigns, and bring buyers back with automated follow-ups.</a:t>
            </a:r>
          </a:p>
          <a:p>
            <a:pPr algn="l">
              <a:spcAft>
                <a:spcPts val="1200"/>
              </a:spcAft>
            </a:pPr>
            <a:r>
              <a:rPr sz="1700" b="1" i="0" dirty="0">
                <a:solidFill>
                  <a:srgbClr val="B08D57"/>
                </a:solidFill>
                <a:latin typeface="Calibri"/>
              </a:rPr>
              <a:t>Our website &amp; shop</a:t>
            </a:r>
          </a:p>
          <a:p>
            <a:pPr algn="l">
              <a:spcAft>
                <a:spcPts val="1200"/>
              </a:spcAft>
            </a:pPr>
            <a:r>
              <a:rPr sz="1700" b="0" i="0" dirty="0">
                <a:solidFill>
                  <a:srgbClr val="333740"/>
                </a:solidFill>
                <a:latin typeface="Calibri"/>
              </a:rPr>
              <a:t>●  Turn more visitors into buyers, and make it easy to buy wherever people find us.</a:t>
            </a:r>
          </a:p>
          <a:p>
            <a:pPr algn="l">
              <a:spcAft>
                <a:spcPts val="400"/>
              </a:spcAft>
            </a:pPr>
            <a:r>
              <a:rPr sz="500" b="0" i="0" dirty="0">
                <a:solidFill>
                  <a:srgbClr val="6B707B"/>
                </a:solidFill>
                <a:latin typeface="Calibri"/>
              </a:rPr>
              <a:t> </a:t>
            </a:r>
          </a:p>
          <a:p>
            <a:pPr algn="l">
              <a:spcAft>
                <a:spcPts val="1200"/>
              </a:spcAft>
            </a:pPr>
            <a:r>
              <a:rPr sz="1700" b="0" i="0" dirty="0">
                <a:solidFill>
                  <a:srgbClr val="333740"/>
                </a:solidFill>
                <a:latin typeface="Calibri"/>
              </a:rPr>
              <a:t>●  Underneath it all: </a:t>
            </a:r>
            <a:r>
              <a:rPr lang="en-US" sz="1700" dirty="0">
                <a:solidFill>
                  <a:srgbClr val="333740"/>
                </a:solidFill>
                <a:latin typeface="Calibri"/>
              </a:rPr>
              <a:t>our videos</a:t>
            </a:r>
            <a:r>
              <a:rPr sz="1700" b="0" i="0" dirty="0">
                <a:solidFill>
                  <a:srgbClr val="333740"/>
                </a:solidFill>
                <a:latin typeface="Calibri"/>
              </a:rPr>
              <a:t> and creator videos as the fuel, and one simple promise everywhere — a 60-day “keep it” guarantee that makes buying risk-free.</a:t>
            </a:r>
          </a:p>
        </p:txBody>
      </p:sp>
      <p:sp>
        <p:nvSpPr>
          <p:cNvPr id="7" name="TextBox 6"/>
          <p:cNvSpPr txBox="1"/>
          <p:nvPr/>
        </p:nvSpPr>
        <p:spPr>
          <a:xfrm>
            <a:off x="548640" y="6473952"/>
            <a:ext cx="11064240" cy="301752"/>
          </a:xfrm>
          <a:prstGeom prst="rect">
            <a:avLst/>
          </a:prstGeom>
          <a:noFill/>
        </p:spPr>
        <p:txBody>
          <a:bodyPr wrap="square">
            <a:spAutoFit/>
          </a:bodyPr>
          <a:lstStyle/>
          <a:p>
            <a:pPr algn="l">
              <a:spcAft>
                <a:spcPts val="700"/>
              </a:spcAft>
            </a:pPr>
            <a:r>
              <a:rPr sz="900" b="0" i="0">
                <a:solidFill>
                  <a:srgbClr val="6B707B"/>
                </a:solidFill>
                <a:latin typeface="Calibri"/>
              </a:rPr>
              <a:t>Fitwell · growth plan · 3/12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80160"/>
            <a:ext cx="12191695" cy="54864"/>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6304"/>
            <a:ext cx="11064240" cy="1051560"/>
          </a:xfrm>
          <a:prstGeom prst="rect">
            <a:avLst/>
          </a:prstGeom>
          <a:noFill/>
        </p:spPr>
        <p:txBody>
          <a:bodyPr wrap="square">
            <a:spAutoFit/>
          </a:bodyPr>
          <a:lstStyle/>
          <a:p>
            <a:pPr algn="l">
              <a:spcAft>
                <a:spcPts val="200"/>
              </a:spcAft>
            </a:pPr>
            <a:r>
              <a:rPr sz="1200" b="1" i="0">
                <a:solidFill>
                  <a:srgbClr val="B08D57"/>
                </a:solidFill>
                <a:latin typeface="Calibri"/>
              </a:rPr>
              <a:t>CREATORS — OUR BIGGEST UNLOCK</a:t>
            </a:r>
          </a:p>
          <a:p>
            <a:pPr algn="l">
              <a:spcAft>
                <a:spcPts val="700"/>
              </a:spcAft>
            </a:pPr>
            <a:r>
              <a:rPr sz="2600" b="1" i="0">
                <a:solidFill>
                  <a:srgbClr val="FFFFFF"/>
                </a:solidFill>
                <a:latin typeface="Calibri"/>
              </a:rPr>
              <a:t>Cheaper than ads, and aimed straight at our buyers</a:t>
            </a:r>
          </a:p>
        </p:txBody>
      </p:sp>
      <p:sp>
        <p:nvSpPr>
          <p:cNvPr id="6" name="TextBox 5"/>
          <p:cNvSpPr txBox="1"/>
          <p:nvPr/>
        </p:nvSpPr>
        <p:spPr>
          <a:xfrm>
            <a:off x="640080" y="1691640"/>
            <a:ext cx="10881360" cy="2646878"/>
          </a:xfrm>
          <a:prstGeom prst="rect">
            <a:avLst/>
          </a:prstGeom>
          <a:noFill/>
        </p:spPr>
        <p:txBody>
          <a:bodyPr wrap="square">
            <a:spAutoFit/>
          </a:bodyPr>
          <a:lstStyle/>
          <a:p>
            <a:pPr algn="l">
              <a:spcAft>
                <a:spcPts val="1200"/>
              </a:spcAft>
            </a:pPr>
            <a:r>
              <a:rPr sz="1700" b="0" i="0" dirty="0">
                <a:solidFill>
                  <a:srgbClr val="333740"/>
                </a:solidFill>
                <a:latin typeface="Calibri"/>
              </a:rPr>
              <a:t>●  We've built a ranked list of 700+ watch creators, sorted by how good a fit they are.</a:t>
            </a:r>
            <a:r>
              <a:rPr lang="en-US" sz="1700" b="0" i="0" dirty="0">
                <a:solidFill>
                  <a:srgbClr val="333740"/>
                </a:solidFill>
                <a:latin typeface="Calibri"/>
              </a:rPr>
              <a:t> I’m vetting the list a few at a time when I have extra time.</a:t>
            </a:r>
            <a:endParaRPr sz="1700" b="0" i="0" dirty="0">
              <a:solidFill>
                <a:srgbClr val="333740"/>
              </a:solidFill>
              <a:latin typeface="Calibri"/>
            </a:endParaRPr>
          </a:p>
          <a:p>
            <a:pPr algn="l">
              <a:spcAft>
                <a:spcPts val="1200"/>
              </a:spcAft>
            </a:pPr>
            <a:r>
              <a:rPr sz="1700" b="0" i="0" dirty="0">
                <a:solidFill>
                  <a:srgbClr val="333740"/>
                </a:solidFill>
                <a:latin typeface="Calibri"/>
              </a:rPr>
              <a:t>●  We</a:t>
            </a:r>
            <a:r>
              <a:rPr lang="en-US" sz="1700" b="0" i="0" dirty="0">
                <a:solidFill>
                  <a:srgbClr val="333740"/>
                </a:solidFill>
                <a:latin typeface="Calibri"/>
              </a:rPr>
              <a:t>’ll</a:t>
            </a:r>
            <a:r>
              <a:rPr sz="1700" b="0" i="0" dirty="0">
                <a:solidFill>
                  <a:srgbClr val="333740"/>
                </a:solidFill>
                <a:latin typeface="Calibri"/>
              </a:rPr>
              <a:t> send buckles to a lot of them. Most of the smaller ones simply get a free buckle and post about it. A few bigger ones we'll pay a little; many we won't pay at all.</a:t>
            </a:r>
          </a:p>
          <a:p>
            <a:pPr algn="l">
              <a:spcAft>
                <a:spcPts val="1200"/>
              </a:spcAft>
            </a:pPr>
            <a:r>
              <a:rPr sz="1700" b="0" i="0" dirty="0">
                <a:solidFill>
                  <a:srgbClr val="333740"/>
                </a:solidFill>
                <a:latin typeface="Calibri"/>
              </a:rPr>
              <a:t>●  Some get a personal discount code so we can track the sales they drive directly. For many — especially the small accounts — the value is awareness we can't measure perfectly. That's expected, and still worth it.</a:t>
            </a:r>
          </a:p>
          <a:p>
            <a:pPr algn="l">
              <a:spcAft>
                <a:spcPts val="1200"/>
              </a:spcAft>
            </a:pPr>
            <a:r>
              <a:rPr sz="1700" b="0" i="0" dirty="0">
                <a:solidFill>
                  <a:srgbClr val="333740"/>
                </a:solidFill>
                <a:latin typeface="Calibri"/>
              </a:rPr>
              <a:t>●  Why it's the biggest unlock: it costs far less than ads, the audiences are exactly our buyers, and their videos become fuel for our own paid ads.</a:t>
            </a:r>
          </a:p>
        </p:txBody>
      </p:sp>
      <p:sp>
        <p:nvSpPr>
          <p:cNvPr id="7" name="TextBox 6"/>
          <p:cNvSpPr txBox="1"/>
          <p:nvPr/>
        </p:nvSpPr>
        <p:spPr>
          <a:xfrm>
            <a:off x="548640" y="6473952"/>
            <a:ext cx="11064240" cy="301752"/>
          </a:xfrm>
          <a:prstGeom prst="rect">
            <a:avLst/>
          </a:prstGeom>
          <a:noFill/>
        </p:spPr>
        <p:txBody>
          <a:bodyPr wrap="square">
            <a:spAutoFit/>
          </a:bodyPr>
          <a:lstStyle/>
          <a:p>
            <a:pPr algn="l">
              <a:spcAft>
                <a:spcPts val="700"/>
              </a:spcAft>
            </a:pPr>
            <a:r>
              <a:rPr sz="900" b="0" i="0">
                <a:solidFill>
                  <a:srgbClr val="6B707B"/>
                </a:solidFill>
                <a:latin typeface="Calibri"/>
              </a:rPr>
              <a:t>Fitwell · growth plan · 4/12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80160"/>
            <a:ext cx="12191695" cy="54864"/>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6304"/>
            <a:ext cx="11064240" cy="1051560"/>
          </a:xfrm>
          <a:prstGeom prst="rect">
            <a:avLst/>
          </a:prstGeom>
          <a:noFill/>
        </p:spPr>
        <p:txBody>
          <a:bodyPr wrap="square">
            <a:spAutoFit/>
          </a:bodyPr>
          <a:lstStyle/>
          <a:p>
            <a:pPr algn="l">
              <a:spcAft>
                <a:spcPts val="200"/>
              </a:spcAft>
            </a:pPr>
            <a:r>
              <a:rPr sz="1200" b="1" i="0">
                <a:solidFill>
                  <a:srgbClr val="B08D57"/>
                </a:solidFill>
                <a:latin typeface="Calibri"/>
              </a:rPr>
              <a:t>PAID ADVERTISING</a:t>
            </a:r>
          </a:p>
          <a:p>
            <a:pPr algn="l">
              <a:spcAft>
                <a:spcPts val="700"/>
              </a:spcAft>
            </a:pPr>
            <a:r>
              <a:rPr sz="2600" b="1" i="0">
                <a:solidFill>
                  <a:srgbClr val="FFFFFF"/>
                </a:solidFill>
                <a:latin typeface="Calibri"/>
              </a:rPr>
              <a:t>Get discovered, then close — but only once we have content</a:t>
            </a:r>
          </a:p>
        </p:txBody>
      </p:sp>
      <p:sp>
        <p:nvSpPr>
          <p:cNvPr id="6" name="TextBox 5"/>
          <p:cNvSpPr txBox="1"/>
          <p:nvPr/>
        </p:nvSpPr>
        <p:spPr>
          <a:xfrm>
            <a:off x="640080" y="1691640"/>
            <a:ext cx="10881360" cy="3216265"/>
          </a:xfrm>
          <a:prstGeom prst="rect">
            <a:avLst/>
          </a:prstGeom>
          <a:noFill/>
        </p:spPr>
        <p:txBody>
          <a:bodyPr wrap="square">
            <a:spAutoFit/>
          </a:bodyPr>
          <a:lstStyle/>
          <a:p>
            <a:pPr algn="l">
              <a:spcAft>
                <a:spcPts val="1200"/>
              </a:spcAft>
            </a:pPr>
            <a:r>
              <a:rPr sz="1700" b="1" i="0" dirty="0">
                <a:solidFill>
                  <a:srgbClr val="B08D57"/>
                </a:solidFill>
                <a:latin typeface="Calibri"/>
              </a:rPr>
              <a:t>Get discovered — Meta &amp; TikTok</a:t>
            </a:r>
          </a:p>
          <a:p>
            <a:pPr algn="l">
              <a:spcAft>
                <a:spcPts val="1200"/>
              </a:spcAft>
            </a:pPr>
            <a:r>
              <a:rPr sz="1700" b="0" i="0" dirty="0">
                <a:solidFill>
                  <a:srgbClr val="333740"/>
                </a:solidFill>
                <a:latin typeface="Calibri"/>
              </a:rPr>
              <a:t>●  Put the problem and the fix in front of the right people. This is our main lever for volume.</a:t>
            </a:r>
          </a:p>
          <a:p>
            <a:pPr algn="l">
              <a:spcAft>
                <a:spcPts val="1200"/>
              </a:spcAft>
            </a:pPr>
            <a:r>
              <a:rPr sz="1700" b="1" i="0" dirty="0">
                <a:solidFill>
                  <a:srgbClr val="B08D57"/>
                </a:solidFill>
                <a:latin typeface="Calibri"/>
              </a:rPr>
              <a:t>Close — Google &amp; YouTube</a:t>
            </a:r>
          </a:p>
          <a:p>
            <a:pPr algn="l">
              <a:spcAft>
                <a:spcPts val="1200"/>
              </a:spcAft>
            </a:pPr>
            <a:r>
              <a:rPr sz="1700" b="0" i="0" dirty="0">
                <a:solidFill>
                  <a:srgbClr val="333740"/>
                </a:solidFill>
                <a:latin typeface="Calibri"/>
              </a:rPr>
              <a:t>●  Catch people who are ready to buy. We're committing to a targeted YouTube spend in our key cities, starting in August once content is ready.</a:t>
            </a:r>
            <a:r>
              <a:rPr lang="en-US" sz="1700" b="0" i="0" dirty="0">
                <a:solidFill>
                  <a:srgbClr val="333740"/>
                </a:solidFill>
                <a:latin typeface="Calibri"/>
              </a:rPr>
              <a:t> We’ll run Performanc</a:t>
            </a:r>
            <a:r>
              <a:rPr lang="en-US" sz="1700" dirty="0">
                <a:solidFill>
                  <a:srgbClr val="333740"/>
                </a:solidFill>
                <a:latin typeface="Calibri"/>
              </a:rPr>
              <a:t>e Max on top of that to retarget our Meta engagers and website visitors</a:t>
            </a:r>
            <a:endParaRPr sz="1700" b="0" i="0" dirty="0">
              <a:solidFill>
                <a:srgbClr val="333740"/>
              </a:solidFill>
              <a:latin typeface="Calibri"/>
            </a:endParaRPr>
          </a:p>
          <a:p>
            <a:pPr algn="l">
              <a:spcAft>
                <a:spcPts val="1200"/>
              </a:spcAft>
            </a:pPr>
            <a:r>
              <a:rPr sz="1700" b="1" i="0" dirty="0">
                <a:solidFill>
                  <a:srgbClr val="B08D57"/>
                </a:solidFill>
                <a:latin typeface="Calibri"/>
              </a:rPr>
              <a:t>Content first</a:t>
            </a:r>
          </a:p>
          <a:p>
            <a:pPr algn="l">
              <a:spcAft>
                <a:spcPts val="1200"/>
              </a:spcAft>
            </a:pPr>
            <a:r>
              <a:rPr sz="1700" b="0" i="0" dirty="0">
                <a:solidFill>
                  <a:srgbClr val="333740"/>
                </a:solidFill>
                <a:latin typeface="Calibri"/>
              </a:rPr>
              <a:t>●  We hold the big ad dollars until the content is ready. No point spending into an empty shelf.</a:t>
            </a:r>
            <a:r>
              <a:rPr lang="en-US" sz="1700" b="0" i="0" dirty="0">
                <a:solidFill>
                  <a:srgbClr val="333740"/>
                </a:solidFill>
                <a:latin typeface="Calibri"/>
              </a:rPr>
              <a:t> We’ll keep what’s running, turn over the creative </a:t>
            </a:r>
            <a:r>
              <a:rPr lang="en-US" sz="1700" dirty="0">
                <a:solidFill>
                  <a:srgbClr val="333740"/>
                </a:solidFill>
                <a:latin typeface="Calibri"/>
              </a:rPr>
              <a:t>once we’ve done the content, then pour more dollars on top. The Google spend will start when we’re ready (August). We’ll prep it now with Nick.</a:t>
            </a:r>
            <a:endParaRPr sz="1700" b="0" i="0" dirty="0">
              <a:solidFill>
                <a:srgbClr val="333740"/>
              </a:solidFill>
              <a:latin typeface="Calibri"/>
            </a:endParaRPr>
          </a:p>
        </p:txBody>
      </p:sp>
      <p:sp>
        <p:nvSpPr>
          <p:cNvPr id="7" name="TextBox 6"/>
          <p:cNvSpPr txBox="1"/>
          <p:nvPr/>
        </p:nvSpPr>
        <p:spPr>
          <a:xfrm>
            <a:off x="548640" y="6473952"/>
            <a:ext cx="11064240" cy="301752"/>
          </a:xfrm>
          <a:prstGeom prst="rect">
            <a:avLst/>
          </a:prstGeom>
          <a:noFill/>
        </p:spPr>
        <p:txBody>
          <a:bodyPr wrap="square">
            <a:spAutoFit/>
          </a:bodyPr>
          <a:lstStyle/>
          <a:p>
            <a:pPr algn="l">
              <a:spcAft>
                <a:spcPts val="700"/>
              </a:spcAft>
            </a:pPr>
            <a:r>
              <a:rPr sz="900" b="0" i="0">
                <a:solidFill>
                  <a:srgbClr val="6B707B"/>
                </a:solidFill>
                <a:latin typeface="Calibri"/>
              </a:rPr>
              <a:t>Fitwell · growth plan · 5/12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80160"/>
            <a:ext cx="12191695" cy="54864"/>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6304"/>
            <a:ext cx="11064240" cy="1051560"/>
          </a:xfrm>
          <a:prstGeom prst="rect">
            <a:avLst/>
          </a:prstGeom>
          <a:noFill/>
        </p:spPr>
        <p:txBody>
          <a:bodyPr wrap="square">
            <a:spAutoFit/>
          </a:bodyPr>
          <a:lstStyle/>
          <a:p>
            <a:pPr algn="l">
              <a:spcAft>
                <a:spcPts val="200"/>
              </a:spcAft>
            </a:pPr>
            <a:r>
              <a:rPr sz="1200" b="1" i="0">
                <a:solidFill>
                  <a:srgbClr val="B08D57"/>
                </a:solidFill>
                <a:latin typeface="Calibri"/>
              </a:rPr>
              <a:t>EMAIL &amp; TEXT</a:t>
            </a:r>
          </a:p>
          <a:p>
            <a:pPr algn="l">
              <a:spcAft>
                <a:spcPts val="700"/>
              </a:spcAft>
            </a:pPr>
            <a:r>
              <a:rPr sz="2600" b="1" i="0">
                <a:solidFill>
                  <a:srgbClr val="FFFFFF"/>
                </a:solidFill>
                <a:latin typeface="Calibri"/>
              </a:rPr>
              <a:t>Sell to the people who already know us — and bring buyers back</a:t>
            </a:r>
          </a:p>
        </p:txBody>
      </p:sp>
      <p:sp>
        <p:nvSpPr>
          <p:cNvPr id="6" name="TextBox 5"/>
          <p:cNvSpPr txBox="1"/>
          <p:nvPr/>
        </p:nvSpPr>
        <p:spPr>
          <a:xfrm>
            <a:off x="640080" y="1691640"/>
            <a:ext cx="10881360" cy="3631763"/>
          </a:xfrm>
          <a:prstGeom prst="rect">
            <a:avLst/>
          </a:prstGeom>
          <a:noFill/>
        </p:spPr>
        <p:txBody>
          <a:bodyPr wrap="square">
            <a:spAutoFit/>
          </a:bodyPr>
          <a:lstStyle/>
          <a:p>
            <a:pPr algn="l">
              <a:spcAft>
                <a:spcPts val="1200"/>
              </a:spcAft>
            </a:pPr>
            <a:r>
              <a:rPr sz="1700" b="1" i="0" dirty="0">
                <a:solidFill>
                  <a:srgbClr val="B08D57"/>
                </a:solidFill>
                <a:latin typeface="Calibri"/>
              </a:rPr>
              <a:t>Campaigns (the gap today)</a:t>
            </a:r>
          </a:p>
          <a:p>
            <a:pPr algn="l">
              <a:spcAft>
                <a:spcPts val="1200"/>
              </a:spcAft>
            </a:pPr>
            <a:r>
              <a:rPr sz="1700" b="0" i="0" dirty="0">
                <a:solidFill>
                  <a:srgbClr val="333740"/>
                </a:solidFill>
                <a:latin typeface="Calibri"/>
              </a:rPr>
              <a:t>●  Regularly email and text our list — promotions, new finishes, and the watch-industry newsletter we've built. Right now we're barely sending anything.</a:t>
            </a:r>
            <a:r>
              <a:rPr lang="en-US" sz="1700" b="0" i="0" dirty="0">
                <a:solidFill>
                  <a:srgbClr val="333740"/>
                </a:solidFill>
                <a:latin typeface="Calibri"/>
              </a:rPr>
              <a:t> </a:t>
            </a:r>
            <a:r>
              <a:rPr lang="en-US" sz="1700" dirty="0">
                <a:solidFill>
                  <a:srgbClr val="333740"/>
                </a:solidFill>
                <a:latin typeface="Calibri"/>
              </a:rPr>
              <a:t>This may cost a little up front to set up, but I think Lucas does this – it’s just a matter of how well he does it.</a:t>
            </a:r>
            <a:endParaRPr sz="1700" b="0" i="0" dirty="0">
              <a:solidFill>
                <a:srgbClr val="333740"/>
              </a:solidFill>
              <a:latin typeface="Calibri"/>
            </a:endParaRPr>
          </a:p>
          <a:p>
            <a:pPr algn="l">
              <a:spcAft>
                <a:spcPts val="1200"/>
              </a:spcAft>
            </a:pPr>
            <a:r>
              <a:rPr sz="1700" b="1" i="0" dirty="0">
                <a:solidFill>
                  <a:srgbClr val="B08D57"/>
                </a:solidFill>
                <a:latin typeface="Calibri"/>
              </a:rPr>
              <a:t>Automated follow-ups</a:t>
            </a:r>
          </a:p>
          <a:p>
            <a:pPr algn="l">
              <a:spcAft>
                <a:spcPts val="1200"/>
              </a:spcAft>
            </a:pPr>
            <a:r>
              <a:rPr sz="1700" b="0" i="0" dirty="0">
                <a:solidFill>
                  <a:srgbClr val="333740"/>
                </a:solidFill>
                <a:latin typeface="Calibri"/>
              </a:rPr>
              <a:t>●  Welcome new subscribers (already lifts what a customer is worth by ~28%), help new buyers, ask for reviews, invite them to outfit their collection, and win back people who've drifted away.</a:t>
            </a:r>
          </a:p>
          <a:p>
            <a:pPr algn="l">
              <a:spcAft>
                <a:spcPts val="1200"/>
              </a:spcAft>
            </a:pPr>
            <a:r>
              <a:rPr sz="1700" b="1" i="0" dirty="0">
                <a:solidFill>
                  <a:srgbClr val="B08D57"/>
                </a:solidFill>
                <a:latin typeface="Calibri"/>
              </a:rPr>
              <a:t>Add text messaging</a:t>
            </a:r>
          </a:p>
          <a:p>
            <a:pPr algn="l">
              <a:spcAft>
                <a:spcPts val="1200"/>
              </a:spcAft>
            </a:pPr>
            <a:r>
              <a:rPr sz="1700" b="0" i="0" dirty="0">
                <a:solidFill>
                  <a:srgbClr val="333740"/>
                </a:solidFill>
                <a:latin typeface="Calibri"/>
              </a:rPr>
              <a:t>●  Stand up texting for time-sensitive sends — we don't do this at all today.</a:t>
            </a:r>
          </a:p>
          <a:p>
            <a:pPr algn="l">
              <a:spcAft>
                <a:spcPts val="1200"/>
              </a:spcAft>
            </a:pPr>
            <a:r>
              <a:rPr sz="1700" b="0" i="0" dirty="0">
                <a:solidFill>
                  <a:srgbClr val="333740"/>
                </a:solidFill>
                <a:latin typeface="Calibri"/>
              </a:rPr>
              <a:t>●  This is how a one-time $47 buyer becomes a $240 collector — and it's almost completely unbuilt right now.</a:t>
            </a:r>
          </a:p>
        </p:txBody>
      </p:sp>
      <p:sp>
        <p:nvSpPr>
          <p:cNvPr id="7" name="TextBox 6"/>
          <p:cNvSpPr txBox="1"/>
          <p:nvPr/>
        </p:nvSpPr>
        <p:spPr>
          <a:xfrm>
            <a:off x="548640" y="6473952"/>
            <a:ext cx="11064240" cy="301752"/>
          </a:xfrm>
          <a:prstGeom prst="rect">
            <a:avLst/>
          </a:prstGeom>
          <a:noFill/>
        </p:spPr>
        <p:txBody>
          <a:bodyPr wrap="square">
            <a:spAutoFit/>
          </a:bodyPr>
          <a:lstStyle/>
          <a:p>
            <a:pPr algn="l">
              <a:spcAft>
                <a:spcPts val="700"/>
              </a:spcAft>
            </a:pPr>
            <a:r>
              <a:rPr sz="900" b="0" i="0">
                <a:solidFill>
                  <a:srgbClr val="6B707B"/>
                </a:solidFill>
                <a:latin typeface="Calibri"/>
              </a:rPr>
              <a:t>Fitwell · growth plan · 6/12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80160"/>
            <a:ext cx="12191695" cy="54864"/>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6304"/>
            <a:ext cx="11064240" cy="1051560"/>
          </a:xfrm>
          <a:prstGeom prst="rect">
            <a:avLst/>
          </a:prstGeom>
          <a:noFill/>
        </p:spPr>
        <p:txBody>
          <a:bodyPr wrap="square">
            <a:spAutoFit/>
          </a:bodyPr>
          <a:lstStyle/>
          <a:p>
            <a:pPr algn="l">
              <a:spcAft>
                <a:spcPts val="200"/>
              </a:spcAft>
            </a:pPr>
            <a:r>
              <a:rPr sz="1200" b="1" i="0">
                <a:solidFill>
                  <a:srgbClr val="B08D57"/>
                </a:solidFill>
                <a:latin typeface="Calibri"/>
              </a:rPr>
              <a:t>OUR WEBSITE &amp; BUYING EXPERIENCE</a:t>
            </a:r>
          </a:p>
          <a:p>
            <a:pPr algn="l">
              <a:spcAft>
                <a:spcPts val="700"/>
              </a:spcAft>
            </a:pPr>
            <a:r>
              <a:rPr sz="2600" b="1" i="0">
                <a:solidFill>
                  <a:srgbClr val="FFFFFF"/>
                </a:solidFill>
                <a:latin typeface="Calibri"/>
              </a:rPr>
              <a:t>Stop wasting the traffic we pay for</a:t>
            </a:r>
          </a:p>
        </p:txBody>
      </p:sp>
      <p:sp>
        <p:nvSpPr>
          <p:cNvPr id="6" name="TextBox 5"/>
          <p:cNvSpPr txBox="1"/>
          <p:nvPr/>
        </p:nvSpPr>
        <p:spPr>
          <a:xfrm>
            <a:off x="640080" y="1702273"/>
            <a:ext cx="10881360" cy="4572000"/>
          </a:xfrm>
          <a:prstGeom prst="rect">
            <a:avLst/>
          </a:prstGeom>
          <a:noFill/>
        </p:spPr>
        <p:txBody>
          <a:bodyPr wrap="square">
            <a:spAutoFit/>
          </a:bodyPr>
          <a:lstStyle/>
          <a:p>
            <a:pPr algn="l">
              <a:spcAft>
                <a:spcPts val="1200"/>
              </a:spcAft>
            </a:pPr>
            <a:r>
              <a:rPr sz="1700" b="0" i="0">
                <a:solidFill>
                  <a:srgbClr val="333740"/>
                </a:solidFill>
                <a:latin typeface="Calibri"/>
              </a:rPr>
              <a:t>●  Right now only about 1 in 20 people who view a product page add it to their cart. It should be closer to 1 in 10 — so we're leaving about half of our paid traffic on the table.</a:t>
            </a:r>
          </a:p>
          <a:p>
            <a:pPr algn="l">
              <a:spcAft>
                <a:spcPts val="1200"/>
              </a:spcAft>
            </a:pPr>
            <a:r>
              <a:rPr sz="1700" b="0" i="0">
                <a:solidFill>
                  <a:srgbClr val="333740"/>
                </a:solidFill>
                <a:latin typeface="Calibri"/>
              </a:rPr>
              <a:t>●  Fix it with simple tools and a few real customer conversations, then ship the obvious improvements: clear sizing help, the guarantee front-and-center, and reassurance that it fits their strap.</a:t>
            </a:r>
          </a:p>
          <a:p>
            <a:pPr algn="l">
              <a:spcAft>
                <a:spcPts val="1200"/>
              </a:spcAft>
            </a:pPr>
            <a:r>
              <a:rPr sz="1700" b="0" i="0">
                <a:solidFill>
                  <a:srgbClr val="333740"/>
                </a:solidFill>
                <a:latin typeface="Calibri"/>
              </a:rPr>
              <a:t>●  Open a TikTok Shop so people can discover and buy in the same place, instead of clicking away.</a:t>
            </a:r>
          </a:p>
          <a:p>
            <a:pPr>
              <a:spcAft>
                <a:spcPts val="1200"/>
              </a:spcAft>
            </a:pPr>
            <a:r>
              <a:rPr sz="1500">
                <a:solidFill>
                  <a:srgbClr val="333740"/>
                </a:solidFill>
                <a:latin typeface="Calibri"/>
              </a:rPr>
              <a:t>●  Budget ~$4k in July for a one-time audit and first round of fixes — not an ongoing cost.</a:t>
            </a:r>
          </a:p>
        </p:txBody>
      </p:sp>
      <p:sp>
        <p:nvSpPr>
          <p:cNvPr id="7" name="TextBox 6"/>
          <p:cNvSpPr txBox="1"/>
          <p:nvPr/>
        </p:nvSpPr>
        <p:spPr>
          <a:xfrm>
            <a:off x="548640" y="6473952"/>
            <a:ext cx="11064240" cy="301752"/>
          </a:xfrm>
          <a:prstGeom prst="rect">
            <a:avLst/>
          </a:prstGeom>
          <a:noFill/>
        </p:spPr>
        <p:txBody>
          <a:bodyPr wrap="square">
            <a:spAutoFit/>
          </a:bodyPr>
          <a:lstStyle/>
          <a:p>
            <a:pPr algn="l">
              <a:spcAft>
                <a:spcPts val="700"/>
              </a:spcAft>
            </a:pPr>
            <a:r>
              <a:rPr sz="900" b="0" i="0">
                <a:solidFill>
                  <a:srgbClr val="6B707B"/>
                </a:solidFill>
                <a:latin typeface="Calibri"/>
              </a:rPr>
              <a:t>Fitwell · growth plan · 7/12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80160"/>
            <a:ext cx="12191695" cy="54864"/>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6304"/>
            <a:ext cx="11064240" cy="1051560"/>
          </a:xfrm>
          <a:prstGeom prst="rect">
            <a:avLst/>
          </a:prstGeom>
          <a:noFill/>
        </p:spPr>
        <p:txBody>
          <a:bodyPr wrap="square">
            <a:spAutoFit/>
          </a:bodyPr>
          <a:lstStyle/>
          <a:p>
            <a:pPr algn="l">
              <a:spcAft>
                <a:spcPts val="200"/>
              </a:spcAft>
            </a:pPr>
            <a:r>
              <a:rPr sz="1200" b="1" i="0">
                <a:solidFill>
                  <a:srgbClr val="B08D57"/>
                </a:solidFill>
                <a:latin typeface="Calibri"/>
              </a:rPr>
              <a:t>WHY IT ALL WORKS TOGETHER</a:t>
            </a:r>
          </a:p>
          <a:p>
            <a:pPr algn="l">
              <a:spcAft>
                <a:spcPts val="700"/>
              </a:spcAft>
            </a:pPr>
            <a:r>
              <a:rPr sz="2600" b="1" i="0">
                <a:solidFill>
                  <a:srgbClr val="FFFFFF"/>
                </a:solidFill>
                <a:latin typeface="Calibri"/>
              </a:rPr>
              <a:t>The pieces make each other stronger</a:t>
            </a:r>
          </a:p>
        </p:txBody>
      </p:sp>
      <p:sp>
        <p:nvSpPr>
          <p:cNvPr id="6" name="TextBox 5"/>
          <p:cNvSpPr txBox="1"/>
          <p:nvPr/>
        </p:nvSpPr>
        <p:spPr>
          <a:xfrm>
            <a:off x="640080" y="1691640"/>
            <a:ext cx="10881360" cy="4572000"/>
          </a:xfrm>
          <a:prstGeom prst="rect">
            <a:avLst/>
          </a:prstGeom>
          <a:noFill/>
        </p:spPr>
        <p:txBody>
          <a:bodyPr wrap="square">
            <a:spAutoFit/>
          </a:bodyPr>
          <a:lstStyle/>
          <a:p>
            <a:pPr algn="l">
              <a:spcAft>
                <a:spcPts val="1200"/>
              </a:spcAft>
            </a:pPr>
            <a:r>
              <a:rPr sz="1700" b="0" i="0">
                <a:solidFill>
                  <a:srgbClr val="333740"/>
                </a:solidFill>
                <a:latin typeface="Calibri"/>
              </a:rPr>
              <a:t>●  Creator videos feed our ads. Ads and creators drive traffic. The website turns visitors into buyers. Email and text turn buyers into repeat buyers and collectors. Happy collectors become the next creators and reviewers.</a:t>
            </a:r>
          </a:p>
          <a:p>
            <a:pPr algn="l">
              <a:spcAft>
                <a:spcPts val="400"/>
              </a:spcAft>
            </a:pPr>
            <a:r>
              <a:rPr sz="500" b="0" i="0">
                <a:solidFill>
                  <a:srgbClr val="6B707B"/>
                </a:solidFill>
                <a:latin typeface="Calibri"/>
              </a:rPr>
              <a:t> </a:t>
            </a:r>
          </a:p>
          <a:p>
            <a:pPr algn="l">
              <a:spcAft>
                <a:spcPts val="1200"/>
              </a:spcAft>
            </a:pPr>
            <a:r>
              <a:rPr sz="1700" b="0" i="0">
                <a:solidFill>
                  <a:srgbClr val="333740"/>
                </a:solidFill>
                <a:latin typeface="Calibri"/>
              </a:rPr>
              <a:t>●  That's why we run everything at once. If one piece lags — say, no creator videos — the ads run dry and growth stalls.</a:t>
            </a:r>
          </a:p>
          <a:p>
            <a:pPr algn="l">
              <a:spcAft>
                <a:spcPts val="400"/>
              </a:spcAft>
            </a:pPr>
            <a:r>
              <a:rPr sz="500" b="0" i="0">
                <a:solidFill>
                  <a:srgbClr val="6B707B"/>
                </a:solidFill>
                <a:latin typeface="Calibri"/>
              </a:rPr>
              <a:t> </a:t>
            </a:r>
          </a:p>
          <a:p>
            <a:pPr algn="l">
              <a:spcAft>
                <a:spcPts val="1200"/>
              </a:spcAft>
            </a:pPr>
            <a:r>
              <a:rPr sz="1700" b="1" i="0">
                <a:solidFill>
                  <a:srgbClr val="B08D57"/>
                </a:solidFill>
                <a:latin typeface="Calibri"/>
              </a:rPr>
              <a:t>The compounding between the pieces is the whole plan — not any single channel on its own.</a:t>
            </a:r>
          </a:p>
        </p:txBody>
      </p:sp>
      <p:sp>
        <p:nvSpPr>
          <p:cNvPr id="7" name="TextBox 6"/>
          <p:cNvSpPr txBox="1"/>
          <p:nvPr/>
        </p:nvSpPr>
        <p:spPr>
          <a:xfrm>
            <a:off x="548640" y="6473952"/>
            <a:ext cx="11064240" cy="301752"/>
          </a:xfrm>
          <a:prstGeom prst="rect">
            <a:avLst/>
          </a:prstGeom>
          <a:noFill/>
        </p:spPr>
        <p:txBody>
          <a:bodyPr wrap="square">
            <a:spAutoFit/>
          </a:bodyPr>
          <a:lstStyle/>
          <a:p>
            <a:pPr algn="l">
              <a:spcAft>
                <a:spcPts val="700"/>
              </a:spcAft>
            </a:pPr>
            <a:r>
              <a:rPr sz="900" b="0" i="0">
                <a:solidFill>
                  <a:srgbClr val="6B707B"/>
                </a:solidFill>
                <a:latin typeface="Calibri"/>
              </a:rPr>
              <a:t>Fitwell · growth plan · 8/12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80160"/>
            <a:ext cx="12191695" cy="54864"/>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6304"/>
            <a:ext cx="11064240" cy="1051560"/>
          </a:xfrm>
          <a:prstGeom prst="rect">
            <a:avLst/>
          </a:prstGeom>
          <a:noFill/>
        </p:spPr>
        <p:txBody>
          <a:bodyPr wrap="square">
            <a:spAutoFit/>
          </a:bodyPr>
          <a:lstStyle/>
          <a:p>
            <a:pPr algn="l">
              <a:spcAft>
                <a:spcPts val="200"/>
              </a:spcAft>
            </a:pPr>
            <a:r>
              <a:rPr sz="1200" b="1" i="0">
                <a:solidFill>
                  <a:srgbClr val="B08D57"/>
                </a:solidFill>
                <a:latin typeface="Calibri"/>
              </a:rPr>
              <a:t>HOW WE'LL RUN IT, AND WHEN</a:t>
            </a:r>
          </a:p>
          <a:p>
            <a:pPr algn="l">
              <a:spcAft>
                <a:spcPts val="700"/>
              </a:spcAft>
            </a:pPr>
            <a:r>
              <a:rPr sz="2600" b="1" i="0">
                <a:solidFill>
                  <a:srgbClr val="FFFFFF"/>
                </a:solidFill>
                <a:latin typeface="Calibri"/>
              </a:rPr>
              <a:t>A small team, heavy on AI — building now, spending in August</a:t>
            </a:r>
          </a:p>
        </p:txBody>
      </p:sp>
      <p:sp>
        <p:nvSpPr>
          <p:cNvPr id="6" name="TextBox 5"/>
          <p:cNvSpPr txBox="1"/>
          <p:nvPr/>
        </p:nvSpPr>
        <p:spPr>
          <a:xfrm>
            <a:off x="640080" y="1691640"/>
            <a:ext cx="10881360" cy="4355038"/>
          </a:xfrm>
          <a:prstGeom prst="rect">
            <a:avLst/>
          </a:prstGeom>
          <a:noFill/>
        </p:spPr>
        <p:txBody>
          <a:bodyPr wrap="square">
            <a:spAutoFit/>
          </a:bodyPr>
          <a:lstStyle/>
          <a:p>
            <a:pPr algn="l">
              <a:spcAft>
                <a:spcPts val="1200"/>
              </a:spcAft>
            </a:pPr>
            <a:r>
              <a:rPr sz="1700" b="1" i="0" dirty="0">
                <a:solidFill>
                  <a:srgbClr val="B08D57"/>
                </a:solidFill>
                <a:latin typeface="Calibri"/>
              </a:rPr>
              <a:t>The team</a:t>
            </a:r>
          </a:p>
          <a:p>
            <a:pPr marL="285750" indent="-285750" algn="l">
              <a:spcAft>
                <a:spcPts val="1200"/>
              </a:spcAft>
              <a:buFont typeface="Arial" panose="020B0604020202020204" pitchFamily="34" charset="0"/>
              <a:buChar char="•"/>
            </a:pPr>
            <a:r>
              <a:rPr lang="en-US" sz="1700" b="0" i="0" dirty="0">
                <a:solidFill>
                  <a:srgbClr val="333740"/>
                </a:solidFill>
                <a:latin typeface="Calibri"/>
              </a:rPr>
              <a:t>Tom</a:t>
            </a:r>
            <a:r>
              <a:rPr sz="1700" b="0" i="0" dirty="0">
                <a:solidFill>
                  <a:srgbClr val="333740"/>
                </a:solidFill>
                <a:latin typeface="Calibri"/>
              </a:rPr>
              <a:t> on strategy, creators, and on-camer</a:t>
            </a:r>
            <a:r>
              <a:rPr lang="en-US" sz="1700" b="0" i="0" dirty="0">
                <a:solidFill>
                  <a:srgbClr val="333740"/>
                </a:solidFill>
                <a:latin typeface="Calibri"/>
              </a:rPr>
              <a:t>a</a:t>
            </a:r>
            <a:r>
              <a:rPr sz="1700" b="0" i="0" dirty="0">
                <a:solidFill>
                  <a:srgbClr val="333740"/>
                </a:solidFill>
                <a:latin typeface="Calibri"/>
              </a:rPr>
              <a:t> </a:t>
            </a:r>
            <a:endParaRPr lang="en-US" sz="1700" dirty="0">
              <a:solidFill>
                <a:srgbClr val="333740"/>
              </a:solidFill>
              <a:latin typeface="Calibri"/>
            </a:endParaRPr>
          </a:p>
          <a:p>
            <a:pPr marL="285750" indent="-285750" algn="l">
              <a:spcAft>
                <a:spcPts val="1200"/>
              </a:spcAft>
              <a:buFont typeface="Arial" panose="020B0604020202020204" pitchFamily="34" charset="0"/>
              <a:buChar char="•"/>
            </a:pPr>
            <a:r>
              <a:rPr sz="1700" b="0" i="0" dirty="0">
                <a:solidFill>
                  <a:srgbClr val="333740"/>
                </a:solidFill>
                <a:latin typeface="Calibri"/>
              </a:rPr>
              <a:t>A part-time social &amp; email perso</a:t>
            </a:r>
            <a:r>
              <a:rPr lang="en-US" sz="1700" b="0" i="0" dirty="0">
                <a:solidFill>
                  <a:srgbClr val="333740"/>
                </a:solidFill>
                <a:latin typeface="Calibri"/>
              </a:rPr>
              <a:t>n (Lucas)</a:t>
            </a:r>
          </a:p>
          <a:p>
            <a:pPr marL="285750" indent="-285750" algn="l">
              <a:spcAft>
                <a:spcPts val="1200"/>
              </a:spcAft>
              <a:buFont typeface="Arial" panose="020B0604020202020204" pitchFamily="34" charset="0"/>
              <a:buChar char="•"/>
            </a:pPr>
            <a:r>
              <a:rPr sz="1700" b="0" i="0" dirty="0">
                <a:solidFill>
                  <a:srgbClr val="333740"/>
                </a:solidFill>
                <a:latin typeface="Calibri"/>
              </a:rPr>
              <a:t>AI and our own software do the heavy lifting, so we don't need a big marketing department. </a:t>
            </a:r>
            <a:endParaRPr lang="en-US" sz="1700" b="0" i="0" dirty="0">
              <a:solidFill>
                <a:srgbClr val="333740"/>
              </a:solidFill>
              <a:latin typeface="Calibri"/>
            </a:endParaRPr>
          </a:p>
          <a:p>
            <a:pPr marL="285750" indent="-285750" algn="l">
              <a:spcAft>
                <a:spcPts val="1200"/>
              </a:spcAft>
              <a:buFont typeface="Arial" panose="020B0604020202020204" pitchFamily="34" charset="0"/>
              <a:buChar char="•"/>
            </a:pPr>
            <a:r>
              <a:rPr lang="en-US" sz="1700" dirty="0">
                <a:solidFill>
                  <a:srgbClr val="333740"/>
                </a:solidFill>
                <a:latin typeface="Calibri"/>
              </a:rPr>
              <a:t>Part-time marketing ops help (also a watch enthusiast) to keep everything on the rails and help with content.</a:t>
            </a:r>
            <a:endParaRPr lang="en-US" sz="1700" b="0" i="0" dirty="0">
              <a:solidFill>
                <a:srgbClr val="333740"/>
              </a:solidFill>
              <a:latin typeface="Calibri"/>
            </a:endParaRPr>
          </a:p>
          <a:p>
            <a:pPr marL="285750" indent="-285750" algn="l">
              <a:spcAft>
                <a:spcPts val="1200"/>
              </a:spcAft>
              <a:buFont typeface="Arial" panose="020B0604020202020204" pitchFamily="34" charset="0"/>
              <a:buChar char="•"/>
            </a:pPr>
            <a:r>
              <a:rPr lang="en-US" sz="1700" dirty="0">
                <a:solidFill>
                  <a:srgbClr val="333740"/>
                </a:solidFill>
                <a:latin typeface="Calibri"/>
              </a:rPr>
              <a:t>No f</a:t>
            </a:r>
            <a:r>
              <a:rPr sz="1700" b="0" i="0" dirty="0">
                <a:solidFill>
                  <a:srgbClr val="333740"/>
                </a:solidFill>
                <a:latin typeface="Calibri"/>
              </a:rPr>
              <a:t>ull-time hires </a:t>
            </a:r>
            <a:r>
              <a:rPr lang="en-US" sz="1700" dirty="0">
                <a:solidFill>
                  <a:srgbClr val="333740"/>
                </a:solidFill>
                <a:latin typeface="Calibri"/>
              </a:rPr>
              <a:t>until</a:t>
            </a:r>
            <a:r>
              <a:rPr sz="1700" b="0" i="0" dirty="0">
                <a:solidFill>
                  <a:srgbClr val="333740"/>
                </a:solidFill>
                <a:latin typeface="Calibri"/>
              </a:rPr>
              <a:t> we're profitable.</a:t>
            </a:r>
          </a:p>
          <a:p>
            <a:pPr algn="l">
              <a:spcAft>
                <a:spcPts val="1200"/>
              </a:spcAft>
            </a:pPr>
            <a:r>
              <a:rPr sz="1700" b="1" i="0" dirty="0">
                <a:solidFill>
                  <a:srgbClr val="B08D57"/>
                </a:solidFill>
                <a:latin typeface="Calibri"/>
              </a:rPr>
              <a:t>The timeline</a:t>
            </a:r>
          </a:p>
          <a:p>
            <a:pPr algn="l">
              <a:spcAft>
                <a:spcPts val="1200"/>
              </a:spcAft>
            </a:pPr>
            <a:r>
              <a:rPr sz="1700" b="0" i="0" dirty="0">
                <a:solidFill>
                  <a:srgbClr val="333740"/>
                </a:solidFill>
                <a:latin typeface="Calibri"/>
              </a:rPr>
              <a:t>●  Now–August: build content, hire the small team, set up creators, fix the website, get email &amp; text running. Only light test ad spend.</a:t>
            </a:r>
          </a:p>
          <a:p>
            <a:pPr algn="l">
              <a:spcAft>
                <a:spcPts val="1200"/>
              </a:spcAft>
            </a:pPr>
            <a:r>
              <a:rPr sz="1700" b="0" i="0" dirty="0">
                <a:solidFill>
                  <a:srgbClr val="333740"/>
                </a:solidFill>
                <a:latin typeface="Calibri"/>
              </a:rPr>
              <a:t>●  August: go live with the full ad push.</a:t>
            </a:r>
          </a:p>
          <a:p>
            <a:pPr algn="l">
              <a:spcAft>
                <a:spcPts val="1200"/>
              </a:spcAft>
            </a:pPr>
            <a:r>
              <a:rPr sz="1700" b="0" i="0" dirty="0">
                <a:solidFill>
                  <a:srgbClr val="333740"/>
                </a:solidFill>
                <a:latin typeface="Calibri"/>
              </a:rPr>
              <a:t>●  </a:t>
            </a:r>
            <a:r>
              <a:rPr lang="en-US" sz="1700" b="0" i="0" dirty="0">
                <a:solidFill>
                  <a:srgbClr val="333740"/>
                </a:solidFill>
                <a:latin typeface="Calibri"/>
              </a:rPr>
              <a:t>60-90 days </a:t>
            </a:r>
            <a:r>
              <a:rPr sz="1700" b="0" i="0" dirty="0">
                <a:solidFill>
                  <a:srgbClr val="333740"/>
                </a:solidFill>
                <a:latin typeface="Calibri"/>
              </a:rPr>
              <a:t>read the results — scale </a:t>
            </a:r>
            <a:r>
              <a:rPr lang="en-US" sz="1700" b="0" i="0" dirty="0">
                <a:solidFill>
                  <a:srgbClr val="333740"/>
                </a:solidFill>
                <a:latin typeface="Calibri"/>
              </a:rPr>
              <a:t>what’s </a:t>
            </a:r>
            <a:r>
              <a:rPr sz="1700" b="0" i="0" dirty="0">
                <a:solidFill>
                  <a:srgbClr val="333740"/>
                </a:solidFill>
                <a:latin typeface="Calibri"/>
              </a:rPr>
              <a:t>working, pull back </a:t>
            </a:r>
            <a:r>
              <a:rPr lang="en-US" sz="1700" b="0" i="0" dirty="0">
                <a:solidFill>
                  <a:srgbClr val="333740"/>
                </a:solidFill>
                <a:latin typeface="Calibri"/>
              </a:rPr>
              <a:t>what </a:t>
            </a:r>
            <a:r>
              <a:rPr sz="1700" b="0" i="0" dirty="0">
                <a:solidFill>
                  <a:srgbClr val="333740"/>
                </a:solidFill>
                <a:latin typeface="Calibri"/>
              </a:rPr>
              <a:t>isn't.</a:t>
            </a:r>
          </a:p>
        </p:txBody>
      </p:sp>
      <p:sp>
        <p:nvSpPr>
          <p:cNvPr id="7" name="TextBox 6"/>
          <p:cNvSpPr txBox="1"/>
          <p:nvPr/>
        </p:nvSpPr>
        <p:spPr>
          <a:xfrm>
            <a:off x="548640" y="6473952"/>
            <a:ext cx="11064240" cy="301752"/>
          </a:xfrm>
          <a:prstGeom prst="rect">
            <a:avLst/>
          </a:prstGeom>
          <a:noFill/>
        </p:spPr>
        <p:txBody>
          <a:bodyPr wrap="square">
            <a:spAutoFit/>
          </a:bodyPr>
          <a:lstStyle/>
          <a:p>
            <a:pPr algn="l">
              <a:spcAft>
                <a:spcPts val="700"/>
              </a:spcAft>
            </a:pPr>
            <a:r>
              <a:rPr sz="900" b="0" i="0">
                <a:solidFill>
                  <a:srgbClr val="6B707B"/>
                </a:solidFill>
                <a:latin typeface="Calibri"/>
              </a:rPr>
              <a:t>Fitwell · growth plan · 9/12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1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80160"/>
            <a:ext cx="12191695" cy="54864"/>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6304"/>
            <a:ext cx="11064240" cy="1051560"/>
          </a:xfrm>
          <a:prstGeom prst="rect">
            <a:avLst/>
          </a:prstGeom>
          <a:noFill/>
        </p:spPr>
        <p:txBody>
          <a:bodyPr wrap="square">
            <a:spAutoFit/>
          </a:bodyPr>
          <a:lstStyle/>
          <a:p>
            <a:pPr algn="l">
              <a:spcAft>
                <a:spcPts val="200"/>
              </a:spcAft>
            </a:pPr>
            <a:r>
              <a:rPr sz="1200" b="1" i="0">
                <a:solidFill>
                  <a:srgbClr val="B08D57"/>
                </a:solidFill>
                <a:latin typeface="Calibri"/>
              </a:rPr>
              <a:t>THE MONEY</a:t>
            </a:r>
          </a:p>
          <a:p>
            <a:pPr algn="l">
              <a:spcAft>
                <a:spcPts val="700"/>
              </a:spcAft>
            </a:pPr>
            <a:r>
              <a:rPr sz="2600" b="1" i="0">
                <a:solidFill>
                  <a:srgbClr val="FFFFFF"/>
                </a:solidFill>
                <a:latin typeface="Calibri"/>
              </a:rPr>
              <a:t>What we spend, what comes in, and what happens to cash</a:t>
            </a:r>
          </a:p>
        </p:txBody>
      </p:sp>
      <p:graphicFrame>
        <p:nvGraphicFramePr>
          <p:cNvPr id="6" name="Table 5"/>
          <p:cNvGraphicFramePr>
            <a:graphicFrameLocks noGrp="1"/>
          </p:cNvGraphicFramePr>
          <p:nvPr>
            <p:extLst>
              <p:ext uri="{D42A27DB-BD31-4B8C-83A1-F6EECF244321}">
                <p14:modId xmlns:p14="http://schemas.microsoft.com/office/powerpoint/2010/main" val="888059670"/>
              </p:ext>
            </p:extLst>
          </p:nvPr>
        </p:nvGraphicFramePr>
        <p:xfrm>
          <a:off x="502920" y="1463040"/>
          <a:ext cx="9281160" cy="385572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0">
                <a:tc>
                  <a:txBody>
                    <a:bodyPr/>
                    <a:lstStyle/>
                    <a:p>
                      <a:r>
                        <a:rPr sz="1250" b="1">
                          <a:solidFill>
                            <a:srgbClr val="FFFFFF"/>
                          </a:solidFill>
                          <a:latin typeface="Calibri"/>
                        </a:rPr>
                        <a:t>Month</a:t>
                      </a:r>
                    </a:p>
                  </a:txBody>
                  <a:tcPr>
                    <a:solidFill>
                      <a:srgbClr val="1A1F2B"/>
                    </a:solidFill>
                  </a:tcPr>
                </a:tc>
                <a:tc>
                  <a:txBody>
                    <a:bodyPr/>
                    <a:lstStyle/>
                    <a:p>
                      <a:pPr algn="ctr"/>
                      <a:r>
                        <a:rPr sz="1250" b="1">
                          <a:solidFill>
                            <a:srgbClr val="FFFFFF"/>
                          </a:solidFill>
                          <a:latin typeface="Calibri"/>
                        </a:rPr>
                        <a:t>Online sales</a:t>
                      </a:r>
                    </a:p>
                  </a:txBody>
                  <a:tcPr>
                    <a:solidFill>
                      <a:srgbClr val="1A1F2B"/>
                    </a:solidFill>
                  </a:tcPr>
                </a:tc>
                <a:tc>
                  <a:txBody>
                    <a:bodyPr/>
                    <a:lstStyle/>
                    <a:p>
                      <a:pPr algn="ctr"/>
                      <a:r>
                        <a:rPr sz="1250" b="1">
                          <a:solidFill>
                            <a:srgbClr val="FFFFFF"/>
                          </a:solidFill>
                          <a:latin typeface="Calibri"/>
                        </a:rPr>
                        <a:t>Wholesale/OEM</a:t>
                      </a:r>
                    </a:p>
                  </a:txBody>
                  <a:tcPr>
                    <a:solidFill>
                      <a:srgbClr val="1A1F2B"/>
                    </a:solidFill>
                  </a:tcPr>
                </a:tc>
                <a:tc>
                  <a:txBody>
                    <a:bodyPr/>
                    <a:lstStyle/>
                    <a:p>
                      <a:pPr algn="ctr"/>
                      <a:r>
                        <a:rPr sz="1250" b="1">
                          <a:solidFill>
                            <a:srgbClr val="FFFFFF"/>
                          </a:solidFill>
                          <a:latin typeface="Calibri"/>
                        </a:rPr>
                        <a:t>Total</a:t>
                      </a:r>
                    </a:p>
                  </a:txBody>
                  <a:tcPr>
                    <a:solidFill>
                      <a:srgbClr val="1A1F2B"/>
                    </a:solidFill>
                  </a:tcPr>
                </a:tc>
                <a:tc>
                  <a:txBody>
                    <a:bodyPr/>
                    <a:lstStyle/>
                    <a:p>
                      <a:pPr algn="ctr"/>
                      <a:r>
                        <a:rPr lang="en-US" sz="1250" b="1" dirty="0">
                          <a:solidFill>
                            <a:srgbClr val="FFFFFF"/>
                          </a:solidFill>
                          <a:latin typeface="Calibri"/>
                        </a:rPr>
                        <a:t>Marketing</a:t>
                      </a:r>
                    </a:p>
                    <a:p>
                      <a:pPr algn="ctr"/>
                      <a:r>
                        <a:rPr sz="1250" b="1" dirty="0">
                          <a:solidFill>
                            <a:srgbClr val="FFFFFF"/>
                          </a:solidFill>
                          <a:latin typeface="Calibri"/>
                        </a:rPr>
                        <a:t>Spend</a:t>
                      </a:r>
                    </a:p>
                  </a:txBody>
                  <a:tcPr>
                    <a:solidFill>
                      <a:srgbClr val="1A1F2B"/>
                    </a:solidFill>
                  </a:tcPr>
                </a:tc>
                <a:tc>
                  <a:txBody>
                    <a:bodyPr/>
                    <a:lstStyle/>
                    <a:p>
                      <a:pPr algn="ctr"/>
                      <a:r>
                        <a:rPr sz="1250" b="1">
                          <a:solidFill>
                            <a:srgbClr val="FFFFFF"/>
                          </a:solidFill>
                          <a:latin typeface="Calibri"/>
                        </a:rPr>
                        <a:t>Profit/(loss)</a:t>
                      </a:r>
                    </a:p>
                  </a:txBody>
                  <a:tcPr>
                    <a:solidFill>
                      <a:srgbClr val="1A1F2B"/>
                    </a:solidFill>
                  </a:tcPr>
                </a:tc>
                <a:tc>
                  <a:txBody>
                    <a:bodyPr/>
                    <a:lstStyle/>
                    <a:p>
                      <a:pPr algn="ctr"/>
                      <a:r>
                        <a:rPr sz="1250" b="1">
                          <a:solidFill>
                            <a:srgbClr val="FFFFFF"/>
                          </a:solidFill>
                          <a:latin typeface="Calibri"/>
                        </a:rPr>
                        <a:t>Cash</a:t>
                      </a:r>
                    </a:p>
                  </a:txBody>
                  <a:tcPr>
                    <a:solidFill>
                      <a:srgbClr val="1A1F2B"/>
                    </a:solidFill>
                  </a:tcPr>
                </a:tc>
                <a:extLst>
                  <a:ext uri="{0D108BD9-81ED-4DB2-BD59-A6C34878D82A}">
                    <a16:rowId xmlns:a16="http://schemas.microsoft.com/office/drawing/2014/main" val="10000"/>
                  </a:ext>
                </a:extLst>
              </a:tr>
              <a:tr h="0">
                <a:tc>
                  <a:txBody>
                    <a:bodyPr/>
                    <a:lstStyle/>
                    <a:p>
                      <a:pPr algn="l"/>
                      <a:r>
                        <a:rPr sz="1250" b="1">
                          <a:solidFill>
                            <a:srgbClr val="333740"/>
                          </a:solidFill>
                          <a:latin typeface="Calibri"/>
                        </a:rPr>
                        <a:t>Jul</a:t>
                      </a:r>
                    </a:p>
                  </a:txBody>
                  <a:tcPr>
                    <a:solidFill>
                      <a:srgbClr val="F5F3EF"/>
                    </a:solidFill>
                  </a:tcPr>
                </a:tc>
                <a:tc>
                  <a:txBody>
                    <a:bodyPr/>
                    <a:lstStyle/>
                    <a:p>
                      <a:pPr algn="ctr"/>
                      <a:r>
                        <a:rPr sz="1250" b="0">
                          <a:solidFill>
                            <a:srgbClr val="333740"/>
                          </a:solidFill>
                          <a:latin typeface="Calibri"/>
                        </a:rPr>
                        <a:t>$15k</a:t>
                      </a:r>
                    </a:p>
                  </a:txBody>
                  <a:tcPr>
                    <a:solidFill>
                      <a:srgbClr val="F5F3EF"/>
                    </a:solidFill>
                  </a:tcPr>
                </a:tc>
                <a:tc>
                  <a:txBody>
                    <a:bodyPr/>
                    <a:lstStyle/>
                    <a:p>
                      <a:pPr algn="ctr"/>
                      <a:r>
                        <a:rPr sz="1250" b="0">
                          <a:solidFill>
                            <a:srgbClr val="333740"/>
                          </a:solidFill>
                          <a:latin typeface="Calibri"/>
                        </a:rPr>
                        <a:t>$15k</a:t>
                      </a:r>
                    </a:p>
                  </a:txBody>
                  <a:tcPr>
                    <a:solidFill>
                      <a:srgbClr val="F5F3EF"/>
                    </a:solidFill>
                  </a:tcPr>
                </a:tc>
                <a:tc>
                  <a:txBody>
                    <a:bodyPr/>
                    <a:lstStyle/>
                    <a:p>
                      <a:pPr algn="ctr"/>
                      <a:r>
                        <a:rPr sz="1250" b="0">
                          <a:solidFill>
                            <a:srgbClr val="333740"/>
                          </a:solidFill>
                          <a:latin typeface="Calibri"/>
                        </a:rPr>
                        <a:t>$30k</a:t>
                      </a:r>
                    </a:p>
                  </a:txBody>
                  <a:tcPr>
                    <a:solidFill>
                      <a:srgbClr val="F5F3EF"/>
                    </a:solidFill>
                  </a:tcPr>
                </a:tc>
                <a:tc>
                  <a:txBody>
                    <a:bodyPr/>
                    <a:lstStyle/>
                    <a:p>
                      <a:pPr algn="ctr"/>
                      <a:r>
                        <a:rPr sz="1250" b="0">
                          <a:solidFill>
                            <a:srgbClr val="333740"/>
                          </a:solidFill>
                          <a:latin typeface="Calibri"/>
                        </a:rPr>
                        <a:t>$18k</a:t>
                      </a:r>
                    </a:p>
                  </a:txBody>
                  <a:tcPr>
                    <a:solidFill>
                      <a:srgbClr val="F5F3EF"/>
                    </a:solidFill>
                  </a:tcPr>
                </a:tc>
                <a:tc>
                  <a:txBody>
                    <a:bodyPr/>
                    <a:lstStyle/>
                    <a:p>
                      <a:pPr algn="ctr"/>
                      <a:r>
                        <a:rPr sz="1250" b="0">
                          <a:solidFill>
                            <a:srgbClr val="B33A3A"/>
                          </a:solidFill>
                          <a:latin typeface="Calibri"/>
                        </a:rPr>
                        <a:t>-$54k</a:t>
                      </a:r>
                    </a:p>
                  </a:txBody>
                  <a:tcPr>
                    <a:solidFill>
                      <a:srgbClr val="F5F3EF"/>
                    </a:solidFill>
                  </a:tcPr>
                </a:tc>
                <a:tc>
                  <a:txBody>
                    <a:bodyPr/>
                    <a:lstStyle/>
                    <a:p>
                      <a:pPr algn="ctr"/>
                      <a:r>
                        <a:rPr sz="1250" b="0">
                          <a:solidFill>
                            <a:srgbClr val="333740"/>
                          </a:solidFill>
                          <a:latin typeface="Calibri"/>
                        </a:rPr>
                        <a:t>$321k</a:t>
                      </a:r>
                    </a:p>
                  </a:txBody>
                  <a:tcPr>
                    <a:solidFill>
                      <a:srgbClr val="F5F3EF"/>
                    </a:solidFill>
                  </a:tcPr>
                </a:tc>
                <a:extLst>
                  <a:ext uri="{0D108BD9-81ED-4DB2-BD59-A6C34878D82A}">
                    <a16:rowId xmlns:a16="http://schemas.microsoft.com/office/drawing/2014/main" val="10001"/>
                  </a:ext>
                </a:extLst>
              </a:tr>
              <a:tr h="0">
                <a:tc>
                  <a:txBody>
                    <a:bodyPr/>
                    <a:lstStyle/>
                    <a:p>
                      <a:pPr algn="l"/>
                      <a:r>
                        <a:rPr sz="1250" b="1">
                          <a:solidFill>
                            <a:srgbClr val="333740"/>
                          </a:solidFill>
                          <a:latin typeface="Calibri"/>
                        </a:rPr>
                        <a:t>Aug</a:t>
                      </a:r>
                    </a:p>
                  </a:txBody>
                  <a:tcPr>
                    <a:solidFill>
                      <a:srgbClr val="FFFFFF"/>
                    </a:solidFill>
                  </a:tcPr>
                </a:tc>
                <a:tc>
                  <a:txBody>
                    <a:bodyPr/>
                    <a:lstStyle/>
                    <a:p>
                      <a:pPr algn="ctr"/>
                      <a:r>
                        <a:rPr sz="1250" b="0">
                          <a:solidFill>
                            <a:srgbClr val="333740"/>
                          </a:solidFill>
                          <a:latin typeface="Calibri"/>
                        </a:rPr>
                        <a:t>$25k</a:t>
                      </a:r>
                    </a:p>
                  </a:txBody>
                  <a:tcPr>
                    <a:solidFill>
                      <a:srgbClr val="FFFFFF"/>
                    </a:solidFill>
                  </a:tcPr>
                </a:tc>
                <a:tc>
                  <a:txBody>
                    <a:bodyPr/>
                    <a:lstStyle/>
                    <a:p>
                      <a:pPr algn="ctr"/>
                      <a:r>
                        <a:rPr sz="1250" b="0">
                          <a:solidFill>
                            <a:srgbClr val="333740"/>
                          </a:solidFill>
                          <a:latin typeface="Calibri"/>
                        </a:rPr>
                        <a:t>$18k</a:t>
                      </a:r>
                    </a:p>
                  </a:txBody>
                  <a:tcPr>
                    <a:solidFill>
                      <a:srgbClr val="FFFFFF"/>
                    </a:solidFill>
                  </a:tcPr>
                </a:tc>
                <a:tc>
                  <a:txBody>
                    <a:bodyPr/>
                    <a:lstStyle/>
                    <a:p>
                      <a:pPr algn="ctr"/>
                      <a:r>
                        <a:rPr sz="1250" b="0">
                          <a:solidFill>
                            <a:srgbClr val="333740"/>
                          </a:solidFill>
                          <a:latin typeface="Calibri"/>
                        </a:rPr>
                        <a:t>$43k</a:t>
                      </a:r>
                    </a:p>
                  </a:txBody>
                  <a:tcPr>
                    <a:solidFill>
                      <a:srgbClr val="FFFFFF"/>
                    </a:solidFill>
                  </a:tcPr>
                </a:tc>
                <a:tc>
                  <a:txBody>
                    <a:bodyPr/>
                    <a:lstStyle/>
                    <a:p>
                      <a:pPr algn="ctr"/>
                      <a:r>
                        <a:rPr sz="1250" b="0">
                          <a:solidFill>
                            <a:srgbClr val="333740"/>
                          </a:solidFill>
                          <a:latin typeface="Calibri"/>
                        </a:rPr>
                        <a:t>$25k</a:t>
                      </a:r>
                    </a:p>
                  </a:txBody>
                  <a:tcPr>
                    <a:solidFill>
                      <a:srgbClr val="FFFFFF"/>
                    </a:solidFill>
                  </a:tcPr>
                </a:tc>
                <a:tc>
                  <a:txBody>
                    <a:bodyPr/>
                    <a:lstStyle/>
                    <a:p>
                      <a:pPr algn="ctr"/>
                      <a:r>
                        <a:rPr sz="1250" b="0">
                          <a:solidFill>
                            <a:srgbClr val="B33A3A"/>
                          </a:solidFill>
                          <a:latin typeface="Calibri"/>
                        </a:rPr>
                        <a:t>-$52k</a:t>
                      </a:r>
                    </a:p>
                  </a:txBody>
                  <a:tcPr>
                    <a:solidFill>
                      <a:srgbClr val="FFFFFF"/>
                    </a:solidFill>
                  </a:tcPr>
                </a:tc>
                <a:tc>
                  <a:txBody>
                    <a:bodyPr/>
                    <a:lstStyle/>
                    <a:p>
                      <a:pPr algn="ctr"/>
                      <a:r>
                        <a:rPr sz="1250" b="0">
                          <a:solidFill>
                            <a:srgbClr val="333740"/>
                          </a:solidFill>
                          <a:latin typeface="Calibri"/>
                        </a:rPr>
                        <a:t>$269k</a:t>
                      </a:r>
                    </a:p>
                  </a:txBody>
                  <a:tcPr>
                    <a:solidFill>
                      <a:srgbClr val="FFFFFF"/>
                    </a:solidFill>
                  </a:tcPr>
                </a:tc>
                <a:extLst>
                  <a:ext uri="{0D108BD9-81ED-4DB2-BD59-A6C34878D82A}">
                    <a16:rowId xmlns:a16="http://schemas.microsoft.com/office/drawing/2014/main" val="10002"/>
                  </a:ext>
                </a:extLst>
              </a:tr>
              <a:tr h="0">
                <a:tc>
                  <a:txBody>
                    <a:bodyPr/>
                    <a:lstStyle/>
                    <a:p>
                      <a:pPr algn="l"/>
                      <a:r>
                        <a:rPr sz="1250" b="1">
                          <a:solidFill>
                            <a:srgbClr val="333740"/>
                          </a:solidFill>
                          <a:latin typeface="Calibri"/>
                        </a:rPr>
                        <a:t>Sep</a:t>
                      </a:r>
                    </a:p>
                  </a:txBody>
                  <a:tcPr>
                    <a:solidFill>
                      <a:srgbClr val="F5F3EF"/>
                    </a:solidFill>
                  </a:tcPr>
                </a:tc>
                <a:tc>
                  <a:txBody>
                    <a:bodyPr/>
                    <a:lstStyle/>
                    <a:p>
                      <a:pPr algn="ctr"/>
                      <a:r>
                        <a:rPr sz="1250" b="0">
                          <a:solidFill>
                            <a:srgbClr val="333740"/>
                          </a:solidFill>
                          <a:latin typeface="Calibri"/>
                        </a:rPr>
                        <a:t>$40k</a:t>
                      </a:r>
                    </a:p>
                  </a:txBody>
                  <a:tcPr>
                    <a:solidFill>
                      <a:srgbClr val="F5F3EF"/>
                    </a:solidFill>
                  </a:tcPr>
                </a:tc>
                <a:tc>
                  <a:txBody>
                    <a:bodyPr/>
                    <a:lstStyle/>
                    <a:p>
                      <a:pPr algn="ctr"/>
                      <a:r>
                        <a:rPr sz="1250" b="0">
                          <a:solidFill>
                            <a:srgbClr val="333740"/>
                          </a:solidFill>
                          <a:latin typeface="Calibri"/>
                        </a:rPr>
                        <a:t>$22k</a:t>
                      </a:r>
                    </a:p>
                  </a:txBody>
                  <a:tcPr>
                    <a:solidFill>
                      <a:srgbClr val="F5F3EF"/>
                    </a:solidFill>
                  </a:tcPr>
                </a:tc>
                <a:tc>
                  <a:txBody>
                    <a:bodyPr/>
                    <a:lstStyle/>
                    <a:p>
                      <a:pPr algn="ctr"/>
                      <a:r>
                        <a:rPr sz="1250" b="0">
                          <a:solidFill>
                            <a:srgbClr val="333740"/>
                          </a:solidFill>
                          <a:latin typeface="Calibri"/>
                        </a:rPr>
                        <a:t>$62k</a:t>
                      </a:r>
                    </a:p>
                  </a:txBody>
                  <a:tcPr>
                    <a:solidFill>
                      <a:srgbClr val="F5F3EF"/>
                    </a:solidFill>
                  </a:tcPr>
                </a:tc>
                <a:tc>
                  <a:txBody>
                    <a:bodyPr/>
                    <a:lstStyle/>
                    <a:p>
                      <a:pPr algn="ctr"/>
                      <a:r>
                        <a:rPr sz="1250" b="0">
                          <a:solidFill>
                            <a:srgbClr val="333740"/>
                          </a:solidFill>
                          <a:latin typeface="Calibri"/>
                        </a:rPr>
                        <a:t>$30k</a:t>
                      </a:r>
                    </a:p>
                  </a:txBody>
                  <a:tcPr>
                    <a:solidFill>
                      <a:srgbClr val="F5F3EF"/>
                    </a:solidFill>
                  </a:tcPr>
                </a:tc>
                <a:tc>
                  <a:txBody>
                    <a:bodyPr/>
                    <a:lstStyle/>
                    <a:p>
                      <a:pPr algn="ctr"/>
                      <a:r>
                        <a:rPr sz="1250" b="0">
                          <a:solidFill>
                            <a:srgbClr val="B33A3A"/>
                          </a:solidFill>
                          <a:latin typeface="Calibri"/>
                        </a:rPr>
                        <a:t>-$44k</a:t>
                      </a:r>
                    </a:p>
                  </a:txBody>
                  <a:tcPr>
                    <a:solidFill>
                      <a:srgbClr val="F5F3EF"/>
                    </a:solidFill>
                  </a:tcPr>
                </a:tc>
                <a:tc>
                  <a:txBody>
                    <a:bodyPr/>
                    <a:lstStyle/>
                    <a:p>
                      <a:pPr algn="ctr"/>
                      <a:r>
                        <a:rPr sz="1250" b="0">
                          <a:solidFill>
                            <a:srgbClr val="333740"/>
                          </a:solidFill>
                          <a:latin typeface="Calibri"/>
                        </a:rPr>
                        <a:t>$224k</a:t>
                      </a:r>
                    </a:p>
                  </a:txBody>
                  <a:tcPr>
                    <a:solidFill>
                      <a:srgbClr val="F5F3EF"/>
                    </a:solidFill>
                  </a:tcPr>
                </a:tc>
                <a:extLst>
                  <a:ext uri="{0D108BD9-81ED-4DB2-BD59-A6C34878D82A}">
                    <a16:rowId xmlns:a16="http://schemas.microsoft.com/office/drawing/2014/main" val="10003"/>
                  </a:ext>
                </a:extLst>
              </a:tr>
              <a:tr h="0">
                <a:tc>
                  <a:txBody>
                    <a:bodyPr/>
                    <a:lstStyle/>
                    <a:p>
                      <a:pPr algn="l"/>
                      <a:r>
                        <a:rPr sz="1250" b="1">
                          <a:solidFill>
                            <a:srgbClr val="333740"/>
                          </a:solidFill>
                          <a:latin typeface="Calibri"/>
                        </a:rPr>
                        <a:t>Oct</a:t>
                      </a:r>
                    </a:p>
                  </a:txBody>
                  <a:tcPr>
                    <a:solidFill>
                      <a:srgbClr val="FFFFFF"/>
                    </a:solidFill>
                  </a:tcPr>
                </a:tc>
                <a:tc>
                  <a:txBody>
                    <a:bodyPr/>
                    <a:lstStyle/>
                    <a:p>
                      <a:pPr algn="ctr"/>
                      <a:r>
                        <a:rPr sz="1250" b="0">
                          <a:solidFill>
                            <a:srgbClr val="333740"/>
                          </a:solidFill>
                          <a:latin typeface="Calibri"/>
                        </a:rPr>
                        <a:t>$60k</a:t>
                      </a:r>
                    </a:p>
                  </a:txBody>
                  <a:tcPr>
                    <a:solidFill>
                      <a:srgbClr val="FFFFFF"/>
                    </a:solidFill>
                  </a:tcPr>
                </a:tc>
                <a:tc>
                  <a:txBody>
                    <a:bodyPr/>
                    <a:lstStyle/>
                    <a:p>
                      <a:pPr algn="ctr"/>
                      <a:r>
                        <a:rPr sz="1250" b="0">
                          <a:solidFill>
                            <a:srgbClr val="333740"/>
                          </a:solidFill>
                          <a:latin typeface="Calibri"/>
                        </a:rPr>
                        <a:t>$26k</a:t>
                      </a:r>
                    </a:p>
                  </a:txBody>
                  <a:tcPr>
                    <a:solidFill>
                      <a:srgbClr val="FFFFFF"/>
                    </a:solidFill>
                  </a:tcPr>
                </a:tc>
                <a:tc>
                  <a:txBody>
                    <a:bodyPr/>
                    <a:lstStyle/>
                    <a:p>
                      <a:pPr algn="ctr"/>
                      <a:r>
                        <a:rPr sz="1250" b="0">
                          <a:solidFill>
                            <a:srgbClr val="333740"/>
                          </a:solidFill>
                          <a:latin typeface="Calibri"/>
                        </a:rPr>
                        <a:t>$86k</a:t>
                      </a:r>
                    </a:p>
                  </a:txBody>
                  <a:tcPr>
                    <a:solidFill>
                      <a:srgbClr val="FFFFFF"/>
                    </a:solidFill>
                  </a:tcPr>
                </a:tc>
                <a:tc>
                  <a:txBody>
                    <a:bodyPr/>
                    <a:lstStyle/>
                    <a:p>
                      <a:pPr algn="ctr"/>
                      <a:r>
                        <a:rPr sz="1250" b="0">
                          <a:solidFill>
                            <a:srgbClr val="333740"/>
                          </a:solidFill>
                          <a:latin typeface="Calibri"/>
                        </a:rPr>
                        <a:t>$36k</a:t>
                      </a:r>
                    </a:p>
                  </a:txBody>
                  <a:tcPr>
                    <a:solidFill>
                      <a:srgbClr val="FFFFFF"/>
                    </a:solidFill>
                  </a:tcPr>
                </a:tc>
                <a:tc>
                  <a:txBody>
                    <a:bodyPr/>
                    <a:lstStyle/>
                    <a:p>
                      <a:pPr algn="ctr"/>
                      <a:r>
                        <a:rPr sz="1250" b="0">
                          <a:solidFill>
                            <a:srgbClr val="B33A3A"/>
                          </a:solidFill>
                          <a:latin typeface="Calibri"/>
                        </a:rPr>
                        <a:t>-$35k</a:t>
                      </a:r>
                    </a:p>
                  </a:txBody>
                  <a:tcPr>
                    <a:solidFill>
                      <a:srgbClr val="FFFFFF"/>
                    </a:solidFill>
                  </a:tcPr>
                </a:tc>
                <a:tc>
                  <a:txBody>
                    <a:bodyPr/>
                    <a:lstStyle/>
                    <a:p>
                      <a:pPr algn="ctr"/>
                      <a:r>
                        <a:rPr sz="1250" b="0">
                          <a:solidFill>
                            <a:srgbClr val="333740"/>
                          </a:solidFill>
                          <a:latin typeface="Calibri"/>
                        </a:rPr>
                        <a:t>$189k</a:t>
                      </a:r>
                    </a:p>
                  </a:txBody>
                  <a:tcPr>
                    <a:solidFill>
                      <a:srgbClr val="FFFFFF"/>
                    </a:solidFill>
                  </a:tcPr>
                </a:tc>
                <a:extLst>
                  <a:ext uri="{0D108BD9-81ED-4DB2-BD59-A6C34878D82A}">
                    <a16:rowId xmlns:a16="http://schemas.microsoft.com/office/drawing/2014/main" val="10004"/>
                  </a:ext>
                </a:extLst>
              </a:tr>
              <a:tr h="0">
                <a:tc>
                  <a:txBody>
                    <a:bodyPr/>
                    <a:lstStyle/>
                    <a:p>
                      <a:pPr algn="l"/>
                      <a:r>
                        <a:rPr sz="1250" b="1">
                          <a:solidFill>
                            <a:srgbClr val="333740"/>
                          </a:solidFill>
                          <a:latin typeface="Calibri"/>
                        </a:rPr>
                        <a:t>Nov</a:t>
                      </a:r>
                    </a:p>
                  </a:txBody>
                  <a:tcPr>
                    <a:solidFill>
                      <a:srgbClr val="F5F3EF"/>
                    </a:solidFill>
                  </a:tcPr>
                </a:tc>
                <a:tc>
                  <a:txBody>
                    <a:bodyPr/>
                    <a:lstStyle/>
                    <a:p>
                      <a:pPr algn="ctr"/>
                      <a:r>
                        <a:rPr sz="1250" b="0">
                          <a:solidFill>
                            <a:srgbClr val="333740"/>
                          </a:solidFill>
                          <a:latin typeface="Calibri"/>
                        </a:rPr>
                        <a:t>$70k</a:t>
                      </a:r>
                    </a:p>
                  </a:txBody>
                  <a:tcPr>
                    <a:solidFill>
                      <a:srgbClr val="F5F3EF"/>
                    </a:solidFill>
                  </a:tcPr>
                </a:tc>
                <a:tc>
                  <a:txBody>
                    <a:bodyPr/>
                    <a:lstStyle/>
                    <a:p>
                      <a:pPr algn="ctr"/>
                      <a:r>
                        <a:rPr sz="1250" b="0">
                          <a:solidFill>
                            <a:srgbClr val="333740"/>
                          </a:solidFill>
                          <a:latin typeface="Calibri"/>
                        </a:rPr>
                        <a:t>$31k</a:t>
                      </a:r>
                    </a:p>
                  </a:txBody>
                  <a:tcPr>
                    <a:solidFill>
                      <a:srgbClr val="F5F3EF"/>
                    </a:solidFill>
                  </a:tcPr>
                </a:tc>
                <a:tc>
                  <a:txBody>
                    <a:bodyPr/>
                    <a:lstStyle/>
                    <a:p>
                      <a:pPr algn="ctr"/>
                      <a:r>
                        <a:rPr sz="1250" b="0">
                          <a:solidFill>
                            <a:srgbClr val="333740"/>
                          </a:solidFill>
                          <a:latin typeface="Calibri"/>
                        </a:rPr>
                        <a:t>$101k</a:t>
                      </a:r>
                    </a:p>
                  </a:txBody>
                  <a:tcPr>
                    <a:solidFill>
                      <a:srgbClr val="F5F3EF"/>
                    </a:solidFill>
                  </a:tcPr>
                </a:tc>
                <a:tc>
                  <a:txBody>
                    <a:bodyPr/>
                    <a:lstStyle/>
                    <a:p>
                      <a:pPr algn="ctr"/>
                      <a:r>
                        <a:rPr sz="1250" b="0">
                          <a:solidFill>
                            <a:srgbClr val="333740"/>
                          </a:solidFill>
                          <a:latin typeface="Calibri"/>
                        </a:rPr>
                        <a:t>$40k</a:t>
                      </a:r>
                    </a:p>
                  </a:txBody>
                  <a:tcPr>
                    <a:solidFill>
                      <a:srgbClr val="F5F3EF"/>
                    </a:solidFill>
                  </a:tcPr>
                </a:tc>
                <a:tc>
                  <a:txBody>
                    <a:bodyPr/>
                    <a:lstStyle/>
                    <a:p>
                      <a:pPr algn="ctr"/>
                      <a:r>
                        <a:rPr sz="1250" b="0">
                          <a:solidFill>
                            <a:srgbClr val="B33A3A"/>
                          </a:solidFill>
                          <a:latin typeface="Calibri"/>
                        </a:rPr>
                        <a:t>-$29k</a:t>
                      </a:r>
                    </a:p>
                  </a:txBody>
                  <a:tcPr>
                    <a:solidFill>
                      <a:srgbClr val="F5F3EF"/>
                    </a:solidFill>
                  </a:tcPr>
                </a:tc>
                <a:tc>
                  <a:txBody>
                    <a:bodyPr/>
                    <a:lstStyle/>
                    <a:p>
                      <a:pPr algn="ctr"/>
                      <a:r>
                        <a:rPr sz="1250" b="0">
                          <a:solidFill>
                            <a:srgbClr val="333740"/>
                          </a:solidFill>
                          <a:latin typeface="Calibri"/>
                        </a:rPr>
                        <a:t>$161k</a:t>
                      </a:r>
                    </a:p>
                  </a:txBody>
                  <a:tcPr>
                    <a:solidFill>
                      <a:srgbClr val="F5F3EF"/>
                    </a:solidFill>
                  </a:tcPr>
                </a:tc>
                <a:extLst>
                  <a:ext uri="{0D108BD9-81ED-4DB2-BD59-A6C34878D82A}">
                    <a16:rowId xmlns:a16="http://schemas.microsoft.com/office/drawing/2014/main" val="10005"/>
                  </a:ext>
                </a:extLst>
              </a:tr>
              <a:tr h="0">
                <a:tc>
                  <a:txBody>
                    <a:bodyPr/>
                    <a:lstStyle/>
                    <a:p>
                      <a:pPr algn="l"/>
                      <a:r>
                        <a:rPr sz="1250" b="1">
                          <a:solidFill>
                            <a:srgbClr val="333740"/>
                          </a:solidFill>
                          <a:latin typeface="Calibri"/>
                        </a:rPr>
                        <a:t>Dec</a:t>
                      </a:r>
                    </a:p>
                  </a:txBody>
                  <a:tcPr>
                    <a:solidFill>
                      <a:srgbClr val="FFFFFF"/>
                    </a:solidFill>
                  </a:tcPr>
                </a:tc>
                <a:tc>
                  <a:txBody>
                    <a:bodyPr/>
                    <a:lstStyle/>
                    <a:p>
                      <a:pPr algn="ctr"/>
                      <a:r>
                        <a:rPr sz="1250" b="0">
                          <a:solidFill>
                            <a:srgbClr val="333740"/>
                          </a:solidFill>
                          <a:latin typeface="Calibri"/>
                        </a:rPr>
                        <a:t>$80k</a:t>
                      </a:r>
                    </a:p>
                  </a:txBody>
                  <a:tcPr>
                    <a:solidFill>
                      <a:srgbClr val="FFFFFF"/>
                    </a:solidFill>
                  </a:tcPr>
                </a:tc>
                <a:tc>
                  <a:txBody>
                    <a:bodyPr/>
                    <a:lstStyle/>
                    <a:p>
                      <a:pPr algn="ctr"/>
                      <a:r>
                        <a:rPr sz="1250" b="0">
                          <a:solidFill>
                            <a:srgbClr val="333740"/>
                          </a:solidFill>
                          <a:latin typeface="Calibri"/>
                        </a:rPr>
                        <a:t>$37k</a:t>
                      </a:r>
                    </a:p>
                  </a:txBody>
                  <a:tcPr>
                    <a:solidFill>
                      <a:srgbClr val="FFFFFF"/>
                    </a:solidFill>
                  </a:tcPr>
                </a:tc>
                <a:tc>
                  <a:txBody>
                    <a:bodyPr/>
                    <a:lstStyle/>
                    <a:p>
                      <a:pPr algn="ctr"/>
                      <a:r>
                        <a:rPr sz="1250" b="0">
                          <a:solidFill>
                            <a:srgbClr val="333740"/>
                          </a:solidFill>
                          <a:latin typeface="Calibri"/>
                        </a:rPr>
                        <a:t>$117k</a:t>
                      </a:r>
                    </a:p>
                  </a:txBody>
                  <a:tcPr>
                    <a:solidFill>
                      <a:srgbClr val="FFFFFF"/>
                    </a:solidFill>
                  </a:tcPr>
                </a:tc>
                <a:tc>
                  <a:txBody>
                    <a:bodyPr/>
                    <a:lstStyle/>
                    <a:p>
                      <a:pPr algn="ctr"/>
                      <a:r>
                        <a:rPr sz="1250" b="0">
                          <a:solidFill>
                            <a:srgbClr val="333740"/>
                          </a:solidFill>
                          <a:latin typeface="Calibri"/>
                        </a:rPr>
                        <a:t>$43k</a:t>
                      </a:r>
                    </a:p>
                  </a:txBody>
                  <a:tcPr>
                    <a:solidFill>
                      <a:srgbClr val="FFFFFF"/>
                    </a:solidFill>
                  </a:tcPr>
                </a:tc>
                <a:tc>
                  <a:txBody>
                    <a:bodyPr/>
                    <a:lstStyle/>
                    <a:p>
                      <a:pPr algn="ctr"/>
                      <a:r>
                        <a:rPr sz="1250" b="0">
                          <a:solidFill>
                            <a:srgbClr val="B33A3A"/>
                          </a:solidFill>
                          <a:latin typeface="Calibri"/>
                        </a:rPr>
                        <a:t>-$22k</a:t>
                      </a:r>
                    </a:p>
                  </a:txBody>
                  <a:tcPr>
                    <a:solidFill>
                      <a:srgbClr val="FFFFFF"/>
                    </a:solidFill>
                  </a:tcPr>
                </a:tc>
                <a:tc>
                  <a:txBody>
                    <a:bodyPr/>
                    <a:lstStyle/>
                    <a:p>
                      <a:pPr algn="ctr"/>
                      <a:r>
                        <a:rPr sz="1250" b="0">
                          <a:solidFill>
                            <a:srgbClr val="333740"/>
                          </a:solidFill>
                          <a:latin typeface="Calibri"/>
                        </a:rPr>
                        <a:t>$139k</a:t>
                      </a:r>
                    </a:p>
                  </a:txBody>
                  <a:tcPr>
                    <a:solidFill>
                      <a:srgbClr val="FFFFFF"/>
                    </a:solidFill>
                  </a:tcPr>
                </a:tc>
                <a:extLst>
                  <a:ext uri="{0D108BD9-81ED-4DB2-BD59-A6C34878D82A}">
                    <a16:rowId xmlns:a16="http://schemas.microsoft.com/office/drawing/2014/main" val="10006"/>
                  </a:ext>
                </a:extLst>
              </a:tr>
              <a:tr h="0">
                <a:tc>
                  <a:txBody>
                    <a:bodyPr/>
                    <a:lstStyle/>
                    <a:p>
                      <a:pPr algn="l"/>
                      <a:r>
                        <a:rPr sz="1250" b="1">
                          <a:solidFill>
                            <a:srgbClr val="333740"/>
                          </a:solidFill>
                          <a:latin typeface="Calibri"/>
                        </a:rPr>
                        <a:t>Jan</a:t>
                      </a:r>
                    </a:p>
                  </a:txBody>
                  <a:tcPr>
                    <a:solidFill>
                      <a:srgbClr val="F5F3EF"/>
                    </a:solidFill>
                  </a:tcPr>
                </a:tc>
                <a:tc>
                  <a:txBody>
                    <a:bodyPr/>
                    <a:lstStyle/>
                    <a:p>
                      <a:pPr algn="ctr"/>
                      <a:r>
                        <a:rPr sz="1250" b="0">
                          <a:solidFill>
                            <a:srgbClr val="333740"/>
                          </a:solidFill>
                          <a:latin typeface="Calibri"/>
                        </a:rPr>
                        <a:t>$88k</a:t>
                      </a:r>
                    </a:p>
                  </a:txBody>
                  <a:tcPr>
                    <a:solidFill>
                      <a:srgbClr val="F5F3EF"/>
                    </a:solidFill>
                  </a:tcPr>
                </a:tc>
                <a:tc>
                  <a:txBody>
                    <a:bodyPr/>
                    <a:lstStyle/>
                    <a:p>
                      <a:pPr algn="ctr"/>
                      <a:r>
                        <a:rPr sz="1250" b="0">
                          <a:solidFill>
                            <a:srgbClr val="333740"/>
                          </a:solidFill>
                          <a:latin typeface="Calibri"/>
                        </a:rPr>
                        <a:t>$45k</a:t>
                      </a:r>
                    </a:p>
                  </a:txBody>
                  <a:tcPr>
                    <a:solidFill>
                      <a:srgbClr val="F5F3EF"/>
                    </a:solidFill>
                  </a:tcPr>
                </a:tc>
                <a:tc>
                  <a:txBody>
                    <a:bodyPr/>
                    <a:lstStyle/>
                    <a:p>
                      <a:pPr algn="ctr"/>
                      <a:r>
                        <a:rPr sz="1250" b="0">
                          <a:solidFill>
                            <a:srgbClr val="333740"/>
                          </a:solidFill>
                          <a:latin typeface="Calibri"/>
                        </a:rPr>
                        <a:t>$133k</a:t>
                      </a:r>
                    </a:p>
                  </a:txBody>
                  <a:tcPr>
                    <a:solidFill>
                      <a:srgbClr val="F5F3EF"/>
                    </a:solidFill>
                  </a:tcPr>
                </a:tc>
                <a:tc>
                  <a:txBody>
                    <a:bodyPr/>
                    <a:lstStyle/>
                    <a:p>
                      <a:pPr algn="ctr"/>
                      <a:r>
                        <a:rPr sz="1250" b="0">
                          <a:solidFill>
                            <a:srgbClr val="333740"/>
                          </a:solidFill>
                          <a:latin typeface="Calibri"/>
                        </a:rPr>
                        <a:t>$45k</a:t>
                      </a:r>
                    </a:p>
                  </a:txBody>
                  <a:tcPr>
                    <a:solidFill>
                      <a:srgbClr val="F5F3EF"/>
                    </a:solidFill>
                  </a:tcPr>
                </a:tc>
                <a:tc>
                  <a:txBody>
                    <a:bodyPr/>
                    <a:lstStyle/>
                    <a:p>
                      <a:pPr algn="ctr"/>
                      <a:r>
                        <a:rPr sz="1250" b="0">
                          <a:solidFill>
                            <a:srgbClr val="B33A3A"/>
                          </a:solidFill>
                          <a:latin typeface="Calibri"/>
                        </a:rPr>
                        <a:t>-$13k</a:t>
                      </a:r>
                    </a:p>
                  </a:txBody>
                  <a:tcPr>
                    <a:solidFill>
                      <a:srgbClr val="F5F3EF"/>
                    </a:solidFill>
                  </a:tcPr>
                </a:tc>
                <a:tc>
                  <a:txBody>
                    <a:bodyPr/>
                    <a:lstStyle/>
                    <a:p>
                      <a:pPr algn="ctr"/>
                      <a:r>
                        <a:rPr sz="1250" b="0">
                          <a:solidFill>
                            <a:srgbClr val="333740"/>
                          </a:solidFill>
                          <a:latin typeface="Calibri"/>
                        </a:rPr>
                        <a:t>$126k</a:t>
                      </a:r>
                    </a:p>
                  </a:txBody>
                  <a:tcPr>
                    <a:solidFill>
                      <a:srgbClr val="F5F3EF"/>
                    </a:solidFill>
                  </a:tcPr>
                </a:tc>
                <a:extLst>
                  <a:ext uri="{0D108BD9-81ED-4DB2-BD59-A6C34878D82A}">
                    <a16:rowId xmlns:a16="http://schemas.microsoft.com/office/drawing/2014/main" val="10007"/>
                  </a:ext>
                </a:extLst>
              </a:tr>
              <a:tr h="0">
                <a:tc>
                  <a:txBody>
                    <a:bodyPr/>
                    <a:lstStyle/>
                    <a:p>
                      <a:pPr algn="l"/>
                      <a:r>
                        <a:rPr sz="1250" b="1">
                          <a:solidFill>
                            <a:srgbClr val="333740"/>
                          </a:solidFill>
                          <a:latin typeface="Calibri"/>
                        </a:rPr>
                        <a:t>Feb</a:t>
                      </a:r>
                    </a:p>
                  </a:txBody>
                  <a:tcPr>
                    <a:solidFill>
                      <a:srgbClr val="FFFFFF"/>
                    </a:solidFill>
                  </a:tcPr>
                </a:tc>
                <a:tc>
                  <a:txBody>
                    <a:bodyPr/>
                    <a:lstStyle/>
                    <a:p>
                      <a:pPr algn="ctr"/>
                      <a:r>
                        <a:rPr sz="1250" b="0">
                          <a:solidFill>
                            <a:srgbClr val="333740"/>
                          </a:solidFill>
                          <a:latin typeface="Calibri"/>
                        </a:rPr>
                        <a:t>$95k</a:t>
                      </a:r>
                    </a:p>
                  </a:txBody>
                  <a:tcPr>
                    <a:solidFill>
                      <a:srgbClr val="FFFFFF"/>
                    </a:solidFill>
                  </a:tcPr>
                </a:tc>
                <a:tc>
                  <a:txBody>
                    <a:bodyPr/>
                    <a:lstStyle/>
                    <a:p>
                      <a:pPr algn="ctr"/>
                      <a:r>
                        <a:rPr sz="1250" b="0">
                          <a:solidFill>
                            <a:srgbClr val="333740"/>
                          </a:solidFill>
                          <a:latin typeface="Calibri"/>
                        </a:rPr>
                        <a:t>$54k</a:t>
                      </a:r>
                    </a:p>
                  </a:txBody>
                  <a:tcPr>
                    <a:solidFill>
                      <a:srgbClr val="FFFFFF"/>
                    </a:solidFill>
                  </a:tcPr>
                </a:tc>
                <a:tc>
                  <a:txBody>
                    <a:bodyPr/>
                    <a:lstStyle/>
                    <a:p>
                      <a:pPr algn="ctr"/>
                      <a:r>
                        <a:rPr sz="1250" b="0">
                          <a:solidFill>
                            <a:srgbClr val="333740"/>
                          </a:solidFill>
                          <a:latin typeface="Calibri"/>
                        </a:rPr>
                        <a:t>$149k</a:t>
                      </a:r>
                    </a:p>
                  </a:txBody>
                  <a:tcPr>
                    <a:solidFill>
                      <a:srgbClr val="FFFFFF"/>
                    </a:solidFill>
                  </a:tcPr>
                </a:tc>
                <a:tc>
                  <a:txBody>
                    <a:bodyPr/>
                    <a:lstStyle/>
                    <a:p>
                      <a:pPr algn="ctr"/>
                      <a:r>
                        <a:rPr sz="1250" b="0">
                          <a:solidFill>
                            <a:srgbClr val="333740"/>
                          </a:solidFill>
                          <a:latin typeface="Calibri"/>
                        </a:rPr>
                        <a:t>$48k</a:t>
                      </a:r>
                    </a:p>
                  </a:txBody>
                  <a:tcPr>
                    <a:solidFill>
                      <a:srgbClr val="FFFFFF"/>
                    </a:solidFill>
                  </a:tcPr>
                </a:tc>
                <a:tc>
                  <a:txBody>
                    <a:bodyPr/>
                    <a:lstStyle/>
                    <a:p>
                      <a:pPr algn="ctr"/>
                      <a:r>
                        <a:rPr sz="1250" b="0">
                          <a:solidFill>
                            <a:srgbClr val="B33A3A"/>
                          </a:solidFill>
                          <a:latin typeface="Calibri"/>
                        </a:rPr>
                        <a:t>-$6k</a:t>
                      </a:r>
                    </a:p>
                  </a:txBody>
                  <a:tcPr>
                    <a:solidFill>
                      <a:srgbClr val="FFFFFF"/>
                    </a:solidFill>
                  </a:tcPr>
                </a:tc>
                <a:tc>
                  <a:txBody>
                    <a:bodyPr/>
                    <a:lstStyle/>
                    <a:p>
                      <a:pPr algn="ctr"/>
                      <a:r>
                        <a:rPr sz="1250" b="1">
                          <a:solidFill>
                            <a:srgbClr val="B33A3A"/>
                          </a:solidFill>
                          <a:latin typeface="Calibri"/>
                        </a:rPr>
                        <a:t>$120k</a:t>
                      </a:r>
                    </a:p>
                  </a:txBody>
                  <a:tcPr>
                    <a:solidFill>
                      <a:srgbClr val="FFFFFF"/>
                    </a:solidFill>
                  </a:tcPr>
                </a:tc>
                <a:extLst>
                  <a:ext uri="{0D108BD9-81ED-4DB2-BD59-A6C34878D82A}">
                    <a16:rowId xmlns:a16="http://schemas.microsoft.com/office/drawing/2014/main" val="10008"/>
                  </a:ext>
                </a:extLst>
              </a:tr>
              <a:tr h="0">
                <a:tc>
                  <a:txBody>
                    <a:bodyPr/>
                    <a:lstStyle/>
                    <a:p>
                      <a:pPr algn="l"/>
                      <a:r>
                        <a:rPr sz="1250" b="1">
                          <a:solidFill>
                            <a:srgbClr val="333740"/>
                          </a:solidFill>
                          <a:latin typeface="Calibri"/>
                        </a:rPr>
                        <a:t>Mar</a:t>
                      </a:r>
                    </a:p>
                  </a:txBody>
                  <a:tcPr>
                    <a:solidFill>
                      <a:srgbClr val="F5F3EF"/>
                    </a:solidFill>
                  </a:tcPr>
                </a:tc>
                <a:tc>
                  <a:txBody>
                    <a:bodyPr/>
                    <a:lstStyle/>
                    <a:p>
                      <a:pPr algn="ctr"/>
                      <a:r>
                        <a:rPr sz="1250" b="0">
                          <a:solidFill>
                            <a:srgbClr val="333740"/>
                          </a:solidFill>
                          <a:latin typeface="Calibri"/>
                        </a:rPr>
                        <a:t>$101k</a:t>
                      </a:r>
                    </a:p>
                  </a:txBody>
                  <a:tcPr>
                    <a:solidFill>
                      <a:srgbClr val="F5F3EF"/>
                    </a:solidFill>
                  </a:tcPr>
                </a:tc>
                <a:tc>
                  <a:txBody>
                    <a:bodyPr/>
                    <a:lstStyle/>
                    <a:p>
                      <a:pPr algn="ctr"/>
                      <a:r>
                        <a:rPr sz="1250" b="0">
                          <a:solidFill>
                            <a:srgbClr val="333740"/>
                          </a:solidFill>
                          <a:latin typeface="Calibri"/>
                        </a:rPr>
                        <a:t>$64k</a:t>
                      </a:r>
                    </a:p>
                  </a:txBody>
                  <a:tcPr>
                    <a:solidFill>
                      <a:srgbClr val="F5F3EF"/>
                    </a:solidFill>
                  </a:tcPr>
                </a:tc>
                <a:tc>
                  <a:txBody>
                    <a:bodyPr/>
                    <a:lstStyle/>
                    <a:p>
                      <a:pPr algn="ctr"/>
                      <a:r>
                        <a:rPr sz="1250" b="0">
                          <a:solidFill>
                            <a:srgbClr val="333740"/>
                          </a:solidFill>
                          <a:latin typeface="Calibri"/>
                        </a:rPr>
                        <a:t>$165k</a:t>
                      </a:r>
                    </a:p>
                  </a:txBody>
                  <a:tcPr>
                    <a:solidFill>
                      <a:srgbClr val="F5F3EF"/>
                    </a:solidFill>
                  </a:tcPr>
                </a:tc>
                <a:tc>
                  <a:txBody>
                    <a:bodyPr/>
                    <a:lstStyle/>
                    <a:p>
                      <a:pPr algn="ctr"/>
                      <a:r>
                        <a:rPr sz="1250" b="0">
                          <a:solidFill>
                            <a:srgbClr val="333740"/>
                          </a:solidFill>
                          <a:latin typeface="Calibri"/>
                        </a:rPr>
                        <a:t>$51k</a:t>
                      </a:r>
                    </a:p>
                  </a:txBody>
                  <a:tcPr>
                    <a:solidFill>
                      <a:srgbClr val="F5F3EF"/>
                    </a:solidFill>
                  </a:tcPr>
                </a:tc>
                <a:tc>
                  <a:txBody>
                    <a:bodyPr/>
                    <a:lstStyle/>
                    <a:p>
                      <a:pPr algn="ctr"/>
                      <a:r>
                        <a:rPr sz="1250" b="0">
                          <a:solidFill>
                            <a:srgbClr val="2E7D32"/>
                          </a:solidFill>
                          <a:latin typeface="Calibri"/>
                        </a:rPr>
                        <a:t>+$1k</a:t>
                      </a:r>
                    </a:p>
                  </a:txBody>
                  <a:tcPr>
                    <a:solidFill>
                      <a:srgbClr val="F5F3EF"/>
                    </a:solidFill>
                  </a:tcPr>
                </a:tc>
                <a:tc>
                  <a:txBody>
                    <a:bodyPr/>
                    <a:lstStyle/>
                    <a:p>
                      <a:pPr algn="ctr"/>
                      <a:r>
                        <a:rPr sz="1250" b="0">
                          <a:solidFill>
                            <a:srgbClr val="333740"/>
                          </a:solidFill>
                          <a:latin typeface="Calibri"/>
                        </a:rPr>
                        <a:t>$121k</a:t>
                      </a:r>
                    </a:p>
                  </a:txBody>
                  <a:tcPr>
                    <a:solidFill>
                      <a:srgbClr val="F5F3EF"/>
                    </a:solidFill>
                  </a:tcPr>
                </a:tc>
                <a:extLst>
                  <a:ext uri="{0D108BD9-81ED-4DB2-BD59-A6C34878D82A}">
                    <a16:rowId xmlns:a16="http://schemas.microsoft.com/office/drawing/2014/main" val="10009"/>
                  </a:ext>
                </a:extLst>
              </a:tr>
              <a:tr h="0">
                <a:tc>
                  <a:txBody>
                    <a:bodyPr/>
                    <a:lstStyle/>
                    <a:p>
                      <a:pPr algn="l"/>
                      <a:r>
                        <a:rPr sz="1250" b="1">
                          <a:solidFill>
                            <a:srgbClr val="333740"/>
                          </a:solidFill>
                          <a:latin typeface="Calibri"/>
                        </a:rPr>
                        <a:t>Apr</a:t>
                      </a:r>
                    </a:p>
                  </a:txBody>
                  <a:tcPr>
                    <a:solidFill>
                      <a:srgbClr val="FFFFFF"/>
                    </a:solidFill>
                  </a:tcPr>
                </a:tc>
                <a:tc>
                  <a:txBody>
                    <a:bodyPr/>
                    <a:lstStyle/>
                    <a:p>
                      <a:pPr algn="ctr"/>
                      <a:r>
                        <a:rPr sz="1250" b="0">
                          <a:solidFill>
                            <a:srgbClr val="333740"/>
                          </a:solidFill>
                          <a:latin typeface="Calibri"/>
                        </a:rPr>
                        <a:t>$106k</a:t>
                      </a:r>
                    </a:p>
                  </a:txBody>
                  <a:tcPr>
                    <a:solidFill>
                      <a:srgbClr val="FFFFFF"/>
                    </a:solidFill>
                  </a:tcPr>
                </a:tc>
                <a:tc>
                  <a:txBody>
                    <a:bodyPr/>
                    <a:lstStyle/>
                    <a:p>
                      <a:pPr algn="ctr"/>
                      <a:r>
                        <a:rPr sz="1250" b="0">
                          <a:solidFill>
                            <a:srgbClr val="333740"/>
                          </a:solidFill>
                          <a:latin typeface="Calibri"/>
                        </a:rPr>
                        <a:t>$77k</a:t>
                      </a:r>
                    </a:p>
                  </a:txBody>
                  <a:tcPr>
                    <a:solidFill>
                      <a:srgbClr val="FFFFFF"/>
                    </a:solidFill>
                  </a:tcPr>
                </a:tc>
                <a:tc>
                  <a:txBody>
                    <a:bodyPr/>
                    <a:lstStyle/>
                    <a:p>
                      <a:pPr algn="ctr"/>
                      <a:r>
                        <a:rPr sz="1250" b="0">
                          <a:solidFill>
                            <a:srgbClr val="333740"/>
                          </a:solidFill>
                          <a:latin typeface="Calibri"/>
                        </a:rPr>
                        <a:t>$183k</a:t>
                      </a:r>
                    </a:p>
                  </a:txBody>
                  <a:tcPr>
                    <a:solidFill>
                      <a:srgbClr val="FFFFFF"/>
                    </a:solidFill>
                  </a:tcPr>
                </a:tc>
                <a:tc>
                  <a:txBody>
                    <a:bodyPr/>
                    <a:lstStyle/>
                    <a:p>
                      <a:pPr algn="ctr"/>
                      <a:r>
                        <a:rPr sz="1250" b="0">
                          <a:solidFill>
                            <a:srgbClr val="333740"/>
                          </a:solidFill>
                          <a:latin typeface="Calibri"/>
                        </a:rPr>
                        <a:t>$53k</a:t>
                      </a:r>
                    </a:p>
                  </a:txBody>
                  <a:tcPr>
                    <a:solidFill>
                      <a:srgbClr val="FFFFFF"/>
                    </a:solidFill>
                  </a:tcPr>
                </a:tc>
                <a:tc>
                  <a:txBody>
                    <a:bodyPr/>
                    <a:lstStyle/>
                    <a:p>
                      <a:pPr algn="ctr"/>
                      <a:r>
                        <a:rPr sz="1250" b="0">
                          <a:solidFill>
                            <a:srgbClr val="2E7D32"/>
                          </a:solidFill>
                          <a:latin typeface="Calibri"/>
                        </a:rPr>
                        <a:t>+$11k</a:t>
                      </a:r>
                    </a:p>
                  </a:txBody>
                  <a:tcPr>
                    <a:solidFill>
                      <a:srgbClr val="FFFFFF"/>
                    </a:solidFill>
                  </a:tcPr>
                </a:tc>
                <a:tc>
                  <a:txBody>
                    <a:bodyPr/>
                    <a:lstStyle/>
                    <a:p>
                      <a:pPr algn="ctr"/>
                      <a:r>
                        <a:rPr sz="1250" b="0">
                          <a:solidFill>
                            <a:srgbClr val="333740"/>
                          </a:solidFill>
                          <a:latin typeface="Calibri"/>
                        </a:rPr>
                        <a:t>$132k</a:t>
                      </a:r>
                    </a:p>
                  </a:txBody>
                  <a:tcPr>
                    <a:solidFill>
                      <a:srgbClr val="FFFFFF"/>
                    </a:solidFill>
                  </a:tcPr>
                </a:tc>
                <a:extLst>
                  <a:ext uri="{0D108BD9-81ED-4DB2-BD59-A6C34878D82A}">
                    <a16:rowId xmlns:a16="http://schemas.microsoft.com/office/drawing/2014/main" val="10010"/>
                  </a:ext>
                </a:extLst>
              </a:tr>
              <a:tr h="0">
                <a:tc>
                  <a:txBody>
                    <a:bodyPr/>
                    <a:lstStyle/>
                    <a:p>
                      <a:pPr algn="l"/>
                      <a:r>
                        <a:rPr sz="1250" b="1">
                          <a:solidFill>
                            <a:srgbClr val="333740"/>
                          </a:solidFill>
                          <a:latin typeface="Calibri"/>
                        </a:rPr>
                        <a:t>May</a:t>
                      </a:r>
                    </a:p>
                  </a:txBody>
                  <a:tcPr>
                    <a:solidFill>
                      <a:srgbClr val="F5F3EF"/>
                    </a:solidFill>
                  </a:tcPr>
                </a:tc>
                <a:tc>
                  <a:txBody>
                    <a:bodyPr/>
                    <a:lstStyle/>
                    <a:p>
                      <a:pPr algn="ctr"/>
                      <a:r>
                        <a:rPr sz="1250" b="0">
                          <a:solidFill>
                            <a:srgbClr val="333740"/>
                          </a:solidFill>
                          <a:latin typeface="Calibri"/>
                        </a:rPr>
                        <a:t>$111k</a:t>
                      </a:r>
                    </a:p>
                  </a:txBody>
                  <a:tcPr>
                    <a:solidFill>
                      <a:srgbClr val="F5F3EF"/>
                    </a:solidFill>
                  </a:tcPr>
                </a:tc>
                <a:tc>
                  <a:txBody>
                    <a:bodyPr/>
                    <a:lstStyle/>
                    <a:p>
                      <a:pPr algn="ctr"/>
                      <a:r>
                        <a:rPr sz="1250" b="0">
                          <a:solidFill>
                            <a:srgbClr val="333740"/>
                          </a:solidFill>
                          <a:latin typeface="Calibri"/>
                        </a:rPr>
                        <a:t>$93k</a:t>
                      </a:r>
                    </a:p>
                  </a:txBody>
                  <a:tcPr>
                    <a:solidFill>
                      <a:srgbClr val="F5F3EF"/>
                    </a:solidFill>
                  </a:tcPr>
                </a:tc>
                <a:tc>
                  <a:txBody>
                    <a:bodyPr/>
                    <a:lstStyle/>
                    <a:p>
                      <a:pPr algn="ctr"/>
                      <a:r>
                        <a:rPr sz="1250" b="0">
                          <a:solidFill>
                            <a:srgbClr val="333740"/>
                          </a:solidFill>
                          <a:latin typeface="Calibri"/>
                        </a:rPr>
                        <a:t>$204k</a:t>
                      </a:r>
                    </a:p>
                  </a:txBody>
                  <a:tcPr>
                    <a:solidFill>
                      <a:srgbClr val="F5F3EF"/>
                    </a:solidFill>
                  </a:tcPr>
                </a:tc>
                <a:tc>
                  <a:txBody>
                    <a:bodyPr/>
                    <a:lstStyle/>
                    <a:p>
                      <a:pPr algn="ctr"/>
                      <a:r>
                        <a:rPr sz="1250" b="0">
                          <a:solidFill>
                            <a:srgbClr val="333740"/>
                          </a:solidFill>
                          <a:latin typeface="Calibri"/>
                        </a:rPr>
                        <a:t>$57k</a:t>
                      </a:r>
                    </a:p>
                  </a:txBody>
                  <a:tcPr>
                    <a:solidFill>
                      <a:srgbClr val="F5F3EF"/>
                    </a:solidFill>
                  </a:tcPr>
                </a:tc>
                <a:tc>
                  <a:txBody>
                    <a:bodyPr/>
                    <a:lstStyle/>
                    <a:p>
                      <a:pPr algn="ctr"/>
                      <a:r>
                        <a:rPr sz="1250" b="0">
                          <a:solidFill>
                            <a:srgbClr val="2E7D32"/>
                          </a:solidFill>
                          <a:latin typeface="Calibri"/>
                        </a:rPr>
                        <a:t>+$14k</a:t>
                      </a:r>
                    </a:p>
                  </a:txBody>
                  <a:tcPr>
                    <a:solidFill>
                      <a:srgbClr val="F5F3EF"/>
                    </a:solidFill>
                  </a:tcPr>
                </a:tc>
                <a:tc>
                  <a:txBody>
                    <a:bodyPr/>
                    <a:lstStyle/>
                    <a:p>
                      <a:pPr algn="ctr"/>
                      <a:r>
                        <a:rPr sz="1250" b="0">
                          <a:solidFill>
                            <a:srgbClr val="333740"/>
                          </a:solidFill>
                          <a:latin typeface="Calibri"/>
                        </a:rPr>
                        <a:t>$145k</a:t>
                      </a:r>
                    </a:p>
                  </a:txBody>
                  <a:tcPr>
                    <a:solidFill>
                      <a:srgbClr val="F5F3EF"/>
                    </a:solidFill>
                  </a:tcPr>
                </a:tc>
                <a:extLst>
                  <a:ext uri="{0D108BD9-81ED-4DB2-BD59-A6C34878D82A}">
                    <a16:rowId xmlns:a16="http://schemas.microsoft.com/office/drawing/2014/main" val="10011"/>
                  </a:ext>
                </a:extLst>
              </a:tr>
              <a:tr h="0">
                <a:tc>
                  <a:txBody>
                    <a:bodyPr/>
                    <a:lstStyle/>
                    <a:p>
                      <a:pPr algn="l"/>
                      <a:r>
                        <a:rPr sz="1250" b="1">
                          <a:solidFill>
                            <a:srgbClr val="333740"/>
                          </a:solidFill>
                          <a:latin typeface="Calibri"/>
                        </a:rPr>
                        <a:t>Jun</a:t>
                      </a:r>
                    </a:p>
                  </a:txBody>
                  <a:tcPr>
                    <a:solidFill>
                      <a:srgbClr val="FFFFFF"/>
                    </a:solidFill>
                  </a:tcPr>
                </a:tc>
                <a:tc>
                  <a:txBody>
                    <a:bodyPr/>
                    <a:lstStyle/>
                    <a:p>
                      <a:pPr algn="ctr"/>
                      <a:r>
                        <a:rPr sz="1250" b="0">
                          <a:solidFill>
                            <a:srgbClr val="333740"/>
                          </a:solidFill>
                          <a:latin typeface="Calibri"/>
                        </a:rPr>
                        <a:t>$115k</a:t>
                      </a:r>
                    </a:p>
                  </a:txBody>
                  <a:tcPr>
                    <a:solidFill>
                      <a:srgbClr val="FFFFFF"/>
                    </a:solidFill>
                  </a:tcPr>
                </a:tc>
                <a:tc>
                  <a:txBody>
                    <a:bodyPr/>
                    <a:lstStyle/>
                    <a:p>
                      <a:pPr algn="ctr"/>
                      <a:r>
                        <a:rPr sz="1250" b="0">
                          <a:solidFill>
                            <a:srgbClr val="333740"/>
                          </a:solidFill>
                          <a:latin typeface="Calibri"/>
                        </a:rPr>
                        <a:t>$111k</a:t>
                      </a:r>
                    </a:p>
                  </a:txBody>
                  <a:tcPr>
                    <a:solidFill>
                      <a:srgbClr val="FFFFFF"/>
                    </a:solidFill>
                  </a:tcPr>
                </a:tc>
                <a:tc>
                  <a:txBody>
                    <a:bodyPr/>
                    <a:lstStyle/>
                    <a:p>
                      <a:pPr algn="ctr"/>
                      <a:r>
                        <a:rPr sz="1250" b="0">
                          <a:solidFill>
                            <a:srgbClr val="333740"/>
                          </a:solidFill>
                          <a:latin typeface="Calibri"/>
                        </a:rPr>
                        <a:t>$226k</a:t>
                      </a:r>
                    </a:p>
                  </a:txBody>
                  <a:tcPr>
                    <a:solidFill>
                      <a:srgbClr val="FFFFFF"/>
                    </a:solidFill>
                  </a:tcPr>
                </a:tc>
                <a:tc>
                  <a:txBody>
                    <a:bodyPr/>
                    <a:lstStyle/>
                    <a:p>
                      <a:pPr algn="ctr"/>
                      <a:r>
                        <a:rPr sz="1250" b="0">
                          <a:solidFill>
                            <a:srgbClr val="333740"/>
                          </a:solidFill>
                          <a:latin typeface="Calibri"/>
                        </a:rPr>
                        <a:t>$58k</a:t>
                      </a:r>
                    </a:p>
                  </a:txBody>
                  <a:tcPr>
                    <a:solidFill>
                      <a:srgbClr val="FFFFFF"/>
                    </a:solidFill>
                  </a:tcPr>
                </a:tc>
                <a:tc>
                  <a:txBody>
                    <a:bodyPr/>
                    <a:lstStyle/>
                    <a:p>
                      <a:pPr algn="ctr"/>
                      <a:r>
                        <a:rPr sz="1250" b="0">
                          <a:solidFill>
                            <a:srgbClr val="2E7D32"/>
                          </a:solidFill>
                          <a:latin typeface="Calibri"/>
                        </a:rPr>
                        <a:t>+$26k</a:t>
                      </a:r>
                    </a:p>
                  </a:txBody>
                  <a:tcPr>
                    <a:solidFill>
                      <a:srgbClr val="FFFFFF"/>
                    </a:solidFill>
                  </a:tcPr>
                </a:tc>
                <a:tc>
                  <a:txBody>
                    <a:bodyPr/>
                    <a:lstStyle/>
                    <a:p>
                      <a:pPr algn="ctr"/>
                      <a:r>
                        <a:rPr sz="1250" b="0">
                          <a:solidFill>
                            <a:srgbClr val="333740"/>
                          </a:solidFill>
                          <a:latin typeface="Calibri"/>
                        </a:rPr>
                        <a:t>$171k</a:t>
                      </a:r>
                    </a:p>
                  </a:txBody>
                  <a:tcPr>
                    <a:solidFill>
                      <a:srgbClr val="FFFFFF"/>
                    </a:solidFill>
                  </a:tcPr>
                </a:tc>
                <a:extLst>
                  <a:ext uri="{0D108BD9-81ED-4DB2-BD59-A6C34878D82A}">
                    <a16:rowId xmlns:a16="http://schemas.microsoft.com/office/drawing/2014/main" val="10012"/>
                  </a:ext>
                </a:extLst>
              </a:tr>
            </a:tbl>
          </a:graphicData>
        </a:graphic>
      </p:graphicFrame>
      <p:sp>
        <p:nvSpPr>
          <p:cNvPr id="7" name="TextBox 6"/>
          <p:cNvSpPr txBox="1"/>
          <p:nvPr/>
        </p:nvSpPr>
        <p:spPr>
          <a:xfrm>
            <a:off x="9692640" y="1508760"/>
            <a:ext cx="2240280" cy="4572000"/>
          </a:xfrm>
          <a:prstGeom prst="rect">
            <a:avLst/>
          </a:prstGeom>
          <a:noFill/>
        </p:spPr>
        <p:txBody>
          <a:bodyPr wrap="square">
            <a:spAutoFit/>
          </a:bodyPr>
          <a:lstStyle/>
          <a:p>
            <a:pPr algn="l">
              <a:spcAft>
                <a:spcPts val="800"/>
              </a:spcAft>
            </a:pPr>
            <a:r>
              <a:rPr sz="1300" b="1" i="0">
                <a:solidFill>
                  <a:srgbClr val="333740"/>
                </a:solidFill>
                <a:latin typeface="Calibri"/>
              </a:rPr>
              <a:t>Cash bottoms around $120k in February — a drawdown of ~$255k — then breaks even in March.</a:t>
            </a:r>
          </a:p>
          <a:p>
            <a:pPr algn="l">
              <a:spcAft>
                <a:spcPts val="800"/>
              </a:spcAft>
            </a:pPr>
            <a:r>
              <a:rPr sz="1250" b="0" i="0">
                <a:solidFill>
                  <a:srgbClr val="6B707B"/>
                </a:solidFill>
                <a:latin typeface="Calibri"/>
              </a:rPr>
              <a:t>It recovers to ~$171k by June as wholesale/OEM and the online business scale.</a:t>
            </a:r>
          </a:p>
          <a:p>
            <a:pPr algn="l">
              <a:spcAft>
                <a:spcPts val="700"/>
              </a:spcAft>
            </a:pPr>
            <a:r>
              <a:rPr sz="1250" b="0" i="1">
                <a:solidFill>
                  <a:srgbClr val="B08D57"/>
                </a:solidFill>
                <a:latin typeface="Calibri"/>
              </a:rPr>
              <a:t>Worth it: a new customer costs ~$20-28 to win, and a typical order leaves ~$45 in profit.</a:t>
            </a:r>
          </a:p>
        </p:txBody>
      </p:sp>
      <p:sp>
        <p:nvSpPr>
          <p:cNvPr id="8" name="TextBox 7"/>
          <p:cNvSpPr txBox="1"/>
          <p:nvPr/>
        </p:nvSpPr>
        <p:spPr>
          <a:xfrm>
            <a:off x="502920" y="6172200"/>
            <a:ext cx="8961120" cy="274320"/>
          </a:xfrm>
          <a:prstGeom prst="rect">
            <a:avLst/>
          </a:prstGeom>
          <a:noFill/>
        </p:spPr>
        <p:txBody>
          <a:bodyPr wrap="square">
            <a:spAutoFit/>
          </a:bodyPr>
          <a:lstStyle/>
          <a:p>
            <a:pPr algn="l">
              <a:spcAft>
                <a:spcPts val="700"/>
              </a:spcAft>
            </a:pPr>
            <a:r>
              <a:rPr sz="1050" b="0" i="1">
                <a:solidFill>
                  <a:srgbClr val="6B707B"/>
                </a:solidFill>
                <a:latin typeface="Calibri"/>
              </a:rPr>
              <a:t>Profit/(loss) and cash are after everything — product costs, ~$55k/mo of salaries &amp; operations, the marketing spend shown, and a one-time ~$4k Shopify audit in July.</a:t>
            </a:r>
          </a:p>
        </p:txBody>
      </p:sp>
      <p:sp>
        <p:nvSpPr>
          <p:cNvPr id="9" name="TextBox 8"/>
          <p:cNvSpPr txBox="1"/>
          <p:nvPr/>
        </p:nvSpPr>
        <p:spPr>
          <a:xfrm>
            <a:off x="548640" y="6473952"/>
            <a:ext cx="11064240" cy="301752"/>
          </a:xfrm>
          <a:prstGeom prst="rect">
            <a:avLst/>
          </a:prstGeom>
          <a:noFill/>
        </p:spPr>
        <p:txBody>
          <a:bodyPr wrap="square">
            <a:spAutoFit/>
          </a:bodyPr>
          <a:lstStyle/>
          <a:p>
            <a:pPr algn="l">
              <a:spcAft>
                <a:spcPts val="700"/>
              </a:spcAft>
            </a:pPr>
            <a:r>
              <a:rPr sz="900" b="0" i="0">
                <a:solidFill>
                  <a:srgbClr val="6B707B"/>
                </a:solidFill>
                <a:latin typeface="Calibri"/>
              </a:rPr>
              <a:t>Fitwell · growth plan · 10/12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TotalTime>
  <Words>1634</Words>
  <Application>Microsoft Macintosh PowerPoint</Application>
  <PresentationFormat>Widescreen</PresentationFormat>
  <Paragraphs>201</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Tom Simson</cp:lastModifiedBy>
  <cp:revision>2</cp:revision>
  <dcterms:created xsi:type="dcterms:W3CDTF">2013-01-27T09:14:16Z</dcterms:created>
  <dcterms:modified xsi:type="dcterms:W3CDTF">2026-06-24T22:58:48Z</dcterms:modified>
  <cp:category/>
</cp:coreProperties>
</file>